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b549f75d3f4b79" /><Relationship Type="http://schemas.openxmlformats.org/officeDocument/2006/relationships/extended-properties" Target="/docProps/app.xml" Id="R391d58e39256438f" /><Relationship Type="http://schemas.openxmlformats.org/officeDocument/2006/relationships/officeDocument" Target="/ppt/presentation.xml" Id="Rc39720bab51145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478bf7a24f43d0"/>
  </p:sldMasterIdLst>
  <p:notesMasterIdLst>
    <p:notesMasterId xmlns:r="http://schemas.openxmlformats.org/officeDocument/2006/relationships" r:id="R0e81c10aa4a1491d"/>
  </p:notesMasterIdLst>
  <p:sldIdLst>
    <p:sldId xmlns:r="http://schemas.openxmlformats.org/officeDocument/2006/relationships" id="256" r:id="Rf5cfe4be3a514031"/>
    <p:sldId xmlns:r="http://schemas.openxmlformats.org/officeDocument/2006/relationships" id="257" r:id="R84a30ecc37ba48cd"/>
    <p:sldId xmlns:r="http://schemas.openxmlformats.org/officeDocument/2006/relationships" id="258" r:id="Rb28efe9d613a4302"/>
    <p:sldId xmlns:r="http://schemas.openxmlformats.org/officeDocument/2006/relationships" id="259" r:id="R9d282720767a4205"/>
    <p:sldId xmlns:r="http://schemas.openxmlformats.org/officeDocument/2006/relationships" id="260" r:id="R68a63600ed2c43b9"/>
    <p:sldId xmlns:r="http://schemas.openxmlformats.org/officeDocument/2006/relationships" id="261" r:id="R416dfe5d3ed943e2"/>
    <p:sldId xmlns:r="http://schemas.openxmlformats.org/officeDocument/2006/relationships" id="262" r:id="R05a4d6f673d84e9e"/>
    <p:sldId xmlns:r="http://schemas.openxmlformats.org/officeDocument/2006/relationships" id="263" r:id="Ra12f9bcb19d34ce9"/>
    <p:sldId xmlns:r="http://schemas.openxmlformats.org/officeDocument/2006/relationships" id="264" r:id="Rb4658922335f4a33"/>
    <p:sldId xmlns:r="http://schemas.openxmlformats.org/officeDocument/2006/relationships" id="265" r:id="R0e465e1c26e14a1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478bf7a24f43d0" /><Relationship Type="http://schemas.openxmlformats.org/officeDocument/2006/relationships/theme" Target="/ppt/theme/theme1.xml" Id="R8408be9d964f4bf8" /><Relationship Type="http://schemas.openxmlformats.org/officeDocument/2006/relationships/notesMaster" Target="/ppt/notesMasters/notesMaster1.xml" Id="R0e81c10aa4a1491d" /><Relationship Type="http://schemas.openxmlformats.org/officeDocument/2006/relationships/presProps" Target="/ppt/presProps.xml" Id="R272a20a6a851493b" /><Relationship Type="http://schemas.openxmlformats.org/officeDocument/2006/relationships/viewProps" Target="/ppt/viewProps.xml" Id="Rc0e61aeb642c4373" /><Relationship Type="http://schemas.openxmlformats.org/officeDocument/2006/relationships/tableStyles" Target="/ppt/tableStyles.xml" Id="R2a11e639baa24f17" /><Relationship Type="http://schemas.openxmlformats.org/officeDocument/2006/relationships/slide" Target="/ppt/slides/slide1.xml" Id="Rf5cfe4be3a514031" /><Relationship Type="http://schemas.openxmlformats.org/officeDocument/2006/relationships/slide" Target="/ppt/slides/slide2.xml" Id="R84a30ecc37ba48cd" /><Relationship Type="http://schemas.openxmlformats.org/officeDocument/2006/relationships/slide" Target="/ppt/slides/slide3.xml" Id="Rb28efe9d613a4302" /><Relationship Type="http://schemas.openxmlformats.org/officeDocument/2006/relationships/slide" Target="/ppt/slides/slide4.xml" Id="R9d282720767a4205" /><Relationship Type="http://schemas.openxmlformats.org/officeDocument/2006/relationships/slide" Target="/ppt/slides/slide5.xml" Id="R68a63600ed2c43b9" /><Relationship Type="http://schemas.openxmlformats.org/officeDocument/2006/relationships/slide" Target="/ppt/slides/slide6.xml" Id="R416dfe5d3ed943e2" /><Relationship Type="http://schemas.openxmlformats.org/officeDocument/2006/relationships/slide" Target="/ppt/slides/slide7.xml" Id="R05a4d6f673d84e9e" /><Relationship Type="http://schemas.openxmlformats.org/officeDocument/2006/relationships/slide" Target="/ppt/slides/slide8.xml" Id="Ra12f9bcb19d34ce9" /><Relationship Type="http://schemas.openxmlformats.org/officeDocument/2006/relationships/slide" Target="/ppt/slides/slide9.xml" Id="Rb4658922335f4a33" /><Relationship Type="http://schemas.openxmlformats.org/officeDocument/2006/relationships/slide" Target="/ppt/slides/slide10.xml" Id="R0e465e1c26e14a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4afa44c02ce4b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f8d952a12e4913" /><Relationship Type="http://schemas.openxmlformats.org/officeDocument/2006/relationships/notesMaster" Target="/ppt/notesMasters/notesMaster1.xml" Id="Rd15d2132a2bc4d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6c52ba1d904b6c" /><Relationship Type="http://schemas.openxmlformats.org/officeDocument/2006/relationships/notesMaster" Target="/ppt/notesMasters/notesMaster1.xml" Id="R6511c11e4b1d4b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e1d47876c54bdf" /><Relationship Type="http://schemas.openxmlformats.org/officeDocument/2006/relationships/notesMaster" Target="/ppt/notesMasters/notesMaster1.xml" Id="Ra4a83ffb8f3449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4e8f08c1a8489f" /><Relationship Type="http://schemas.openxmlformats.org/officeDocument/2006/relationships/notesMaster" Target="/ppt/notesMasters/notesMaster1.xml" Id="Rd28a5486a47f4b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9199f5c1d6473b" /><Relationship Type="http://schemas.openxmlformats.org/officeDocument/2006/relationships/notesMaster" Target="/ppt/notesMasters/notesMaster1.xml" Id="Rc075f34a803947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2778ea846d4974" /><Relationship Type="http://schemas.openxmlformats.org/officeDocument/2006/relationships/notesMaster" Target="/ppt/notesMasters/notesMaster1.xml" Id="R3da01565920f44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e7d7432c934b6d" /><Relationship Type="http://schemas.openxmlformats.org/officeDocument/2006/relationships/notesMaster" Target="/ppt/notesMasters/notesMaster1.xml" Id="R80bba2af5e0740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c6351d413b4ee8" /><Relationship Type="http://schemas.openxmlformats.org/officeDocument/2006/relationships/notesMaster" Target="/ppt/notesMasters/notesMaster1.xml" Id="Rc448cbf4688840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6976553ad74ffb" /><Relationship Type="http://schemas.openxmlformats.org/officeDocument/2006/relationships/notesMaster" Target="/ppt/notesMasters/notesMaster1.xml" Id="Ra89dbf0f0d4d421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0e607446d3b41dd" /><Relationship Type="http://schemas.openxmlformats.org/officeDocument/2006/relationships/notesMaster" Target="/ppt/notesMasters/notesMaster1.xml" Id="R9ce5c49ddeae4c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6afdf0267a461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d710d5bcb7e40b5" /><Relationship Type="http://schemas.openxmlformats.org/officeDocument/2006/relationships/slideLayout" Target="/ppt/slideLayouts/slideLayout2.xml" Id="Rea4b92b6c1a843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4b92b6c1a843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ba6584af97457b" /><Relationship Type="http://schemas.openxmlformats.org/officeDocument/2006/relationships/notesSlide" Target="/ppt/notesSlides/notesSlide1.xml" Id="R7130feff01604d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bc550e3d3d433c" /><Relationship Type="http://schemas.openxmlformats.org/officeDocument/2006/relationships/notesSlide" Target="/ppt/notesSlides/notesSlide2.xml" Id="R1a1a60fb80464a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c9b87a769b4ec6" /><Relationship Type="http://schemas.openxmlformats.org/officeDocument/2006/relationships/notesSlide" Target="/ppt/notesSlides/notesSlide3.xml" Id="R4ba0679cd8494d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dd0be814d74df9" /><Relationship Type="http://schemas.openxmlformats.org/officeDocument/2006/relationships/notesSlide" Target="/ppt/notesSlides/notesSlide4.xml" Id="R38ad38e72a704b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3b93c06fcc4399" /><Relationship Type="http://schemas.openxmlformats.org/officeDocument/2006/relationships/notesSlide" Target="/ppt/notesSlides/notesSlide5.xml" Id="R2bf4c336bf0c48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fb7c372ff24e57" /><Relationship Type="http://schemas.openxmlformats.org/officeDocument/2006/relationships/notesSlide" Target="/ppt/notesSlides/notesSlide6.xml" Id="Rcc0ef3c33dfd41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89015e10404511" /><Relationship Type="http://schemas.openxmlformats.org/officeDocument/2006/relationships/notesSlide" Target="/ppt/notesSlides/notesSlide7.xml" Id="R7a05df610c2c44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e3257dcf4446cb" /><Relationship Type="http://schemas.openxmlformats.org/officeDocument/2006/relationships/notesSlide" Target="/ppt/notesSlides/notesSlide8.xml" Id="R0bd6d23af09a4f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92adfd845b4101" /><Relationship Type="http://schemas.openxmlformats.org/officeDocument/2006/relationships/notesSlide" Target="/ppt/notesSlides/notesSlide9.xml" Id="R3945dd2c06e94e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3768963dc24d58" /><Relationship Type="http://schemas.openxmlformats.org/officeDocument/2006/relationships/notesSlide" Target="/ppt/notesSlides/notesSlide10.xml" Id="Rf56d74e96a824dc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card shadow">
            <a:extLst xmlns:a="http://schemas.openxmlformats.org/drawingml/2006/main">
              <a:ext uri="{FF2B5EF4-FFF2-40B4-BE49-F238E27FC236}">
                <a16:creationId xmlns:a16="http://schemas.microsoft.com/office/drawing/2014/main" id="{293F3431-DE92-4590-B196-1940152F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11315700" cy="6134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lide card">
            <a:extLst xmlns:a="http://schemas.openxmlformats.org/drawingml/2006/main">
              <a:ext uri="{FF2B5EF4-FFF2-40B4-BE49-F238E27FC236}">
                <a16:creationId xmlns:a16="http://schemas.microsoft.com/office/drawing/2014/main" id="{77ED986E-22BF-48D1-A979-713DA429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11315700" cy="6134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CB45E6-C9A8-431F-BDB1-F9D43F6E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23950"/>
            <a:ext cx="9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A1F"/>
          </a:solidFill>
          <a:ln xmlns:a="http://schemas.openxmlformats.org/drawingml/2006/main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15774-593A-4BC5-8549-0D3C9B13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14850"/>
            <a:ext cx="4095750" cy="800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3EA"/>
          </a:solidFill>
          <a:ln xmlns:a="http://schemas.openxmlformats.org/drawingml/2006/main" w="14288">
            <a:solidFill>
              <a:srgbClr val="17171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329119-28C3-44CC-AE38-9555B2CB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863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0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1110F"/>
                </a:solidFill>
                <a:latin typeface="Aptos"/>
                <a:ea typeface="Aptos"/>
                <a:cs typeface="Aptos"/>
              </a:rPr>
              <a:t>Student Innovation Discovery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40D68E-629F-4963-840D-C0EAA3D1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72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C675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C675F"/>
                </a:solidFill>
                <a:latin typeface="Aptos"/>
                <a:ea typeface="Aptos"/>
                <a:cs typeface="Aptos"/>
              </a:rPr>
              <a:t>A trusted continuation ecosystem for student innovation.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2D6840-FC1A-4CFF-B0E4-B71207DC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14875"/>
            <a:ext cx="514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F42"/>
          </a:solidFill>
          <a:ln xmlns:a="http://schemas.openxmlformats.org/drawingml/2006/main" w="12383">
            <a:solidFill>
              <a:srgbClr val="17171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96C029-3006-4A11-8752-4C06E0A7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914400"/>
            <a:ext cx="3143250" cy="5105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4800C3-893E-486A-9A4A-BFA4D49B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742950"/>
            <a:ext cx="3143250" cy="5105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100E"/>
          </a:solidFill>
          <a:ln xmlns:a="http://schemas.openxmlformats.org/drawingml/2006/main" w="19050">
            <a:solidFill>
              <a:srgbClr val="17171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BB8064-1595-4D8F-8DAD-AD95B9E2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971550"/>
            <a:ext cx="2724150" cy="4648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8DBA1D-2BE8-4BB0-8BE8-1FE98DBF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885825"/>
            <a:ext cx="666750" cy="76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A2A24"/>
          </a:solidFill>
          <a:ln xmlns:a="http://schemas.openxmlformats.org/drawingml/2006/main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C62427-1D3A-4A72-89A0-D77E6489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238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A1F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D2FEB2-5967-4B37-B2DB-8112A1D4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238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FF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88756B-B15F-4639-A24C-93DE12A8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238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F42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27A7DF-9A1B-400B-AAAD-751C4763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1906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6C675F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C675F"/>
                </a:solidFill>
                <a:latin typeface="Aptos"/>
                <a:ea typeface="Aptos"/>
                <a:cs typeface="Aptos"/>
              </a:rPr>
              <a:t>DISCOVERY</a:t>
            </a:r>
          </a:p>
        </p:txBody>
      </p:sp>
      <p:sp>
        <p:nvSpPr>
          <p:cNvPr id="16" name="card shadow">
            <a:extLst xmlns:a="http://schemas.openxmlformats.org/drawingml/2006/main">
              <a:ext uri="{FF2B5EF4-FFF2-40B4-BE49-F238E27FC236}">
                <a16:creationId xmlns:a16="http://schemas.microsoft.com/office/drawing/2014/main" id="{9E7A4755-0B93-4FCC-8110-D2253459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590675"/>
            <a:ext cx="2266950" cy="7810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7E2D8"/>
          </a:solidFill>
          <a:ln xmlns:a="http://schemas.openxmlformats.org/drawingml/2006/main">
            <a:noFill/>
            <a:prstDash val="solid"/>
          </a:ln>
        </p:spPr>
      </p:sp>
      <p:sp>
        <p:nvSpPr>
          <p:cNvPr id="17" name="card">
            <a:extLst xmlns:a="http://schemas.openxmlformats.org/drawingml/2006/main">
              <a:ext uri="{FF2B5EF4-FFF2-40B4-BE49-F238E27FC236}">
                <a16:creationId xmlns:a16="http://schemas.microsoft.com/office/drawing/2014/main" id="{6DB417D6-478B-464A-9FA6-EA9825FE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562100"/>
            <a:ext cx="2266950" cy="7810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A19B72-E01A-4DA3-9CD3-793090F9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1714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FF99"/>
          </a:solidFill>
          <a:ln xmlns:a="http://schemas.openxmlformats.org/drawingml/2006/main" w="14288">
            <a:solidFill>
              <a:srgbClr val="17171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93142D-F453-464F-9DA0-06F15049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19300"/>
            <a:ext cx="209550" cy="171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050AB7-D581-42FC-817E-0601E2E0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05025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171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F8273D-68C7-4063-8C82-462E6D72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81175"/>
            <a:ext cx="10477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71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58704B-2E6C-450A-A28F-8C070A39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781175"/>
            <a:ext cx="104775" cy="66675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71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97C3F6-CD7F-4960-B7EC-4E84BCDC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50495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71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42C361-60DB-47FA-95E2-1E0D639D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09750"/>
            <a:ext cx="1181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171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CF5E33-0EE9-4C53-A959-ACC3B534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00250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7B0A5"/>
            </a:solidFill>
            <a:prstDash val="solid"/>
          </a:ln>
        </p:spPr>
      </p:sp>
      <p:sp>
        <p:nvSpPr>
          <p:cNvPr id="26" name="card shadow">
            <a:extLst xmlns:a="http://schemas.openxmlformats.org/drawingml/2006/main">
              <a:ext uri="{FF2B5EF4-FFF2-40B4-BE49-F238E27FC236}">
                <a16:creationId xmlns:a16="http://schemas.microsoft.com/office/drawing/2014/main" id="{564FBF34-6E12-44C0-BBAB-2469F2B4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562225"/>
            <a:ext cx="2266950" cy="7810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7E2D8"/>
          </a:solidFill>
          <a:ln xmlns:a="http://schemas.openxmlformats.org/drawingml/2006/main">
            <a:noFill/>
            <a:prstDash val="solid"/>
          </a:ln>
        </p:spPr>
      </p:sp>
      <p:sp>
        <p:nvSpPr>
          <p:cNvPr id="27" name="card">
            <a:extLst xmlns:a="http://schemas.openxmlformats.org/drawingml/2006/main">
              <a:ext uri="{FF2B5EF4-FFF2-40B4-BE49-F238E27FC236}">
                <a16:creationId xmlns:a16="http://schemas.microsoft.com/office/drawing/2014/main" id="{6E111A2A-EE81-4BB2-ABC0-D8B425FD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33650"/>
            <a:ext cx="2266950" cy="7810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6F4213-C1D6-4769-8E55-2D9CF427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95575"/>
            <a:ext cx="304800" cy="4000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DF6EA"/>
          </a:solidFill>
          <a:ln xmlns:a="http://schemas.openxmlformats.org/drawingml/2006/main" w="14288">
            <a:solidFill>
              <a:srgbClr val="17171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04D19C-7450-4F64-A832-524FB65C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7051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6F3EA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CB4B0F-E147-4428-96EE-B10669DA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6702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7171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D5FA98-97BC-41D0-B684-D33F9416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62275"/>
            <a:ext cx="104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7171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079A4D-8A61-4BD4-AA61-ACF8F075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71775"/>
            <a:ext cx="137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171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6472E3-E4D6-4B78-BE46-C93E3321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71800"/>
            <a:ext cx="933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7B0A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CB656B-195A-4EE2-9FA6-F447CDC3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43300"/>
            <a:ext cx="2266950" cy="1066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FFF42"/>
          </a:solidFill>
          <a:ln xmlns:a="http://schemas.openxmlformats.org/drawingml/2006/main" w="19050">
            <a:solidFill>
              <a:srgbClr val="17171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B1CDDF-5171-426A-9FCB-AD38BFCB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52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rPr>
              <a:t>Protected record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79E695-2BBB-4240-904F-ADA062E8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71925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3F4586-9A57-4071-A646-E9BDA443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29100"/>
            <a:ext cx="186690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FA8"/>
          </a:solidFill>
          <a:ln xmlns:a="http://schemas.openxmlformats.org/drawingml/2006/main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17FC09-BA59-48C7-ABE4-5A9EF07D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276725"/>
            <a:ext cx="1418844" cy="1333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100E"/>
          </a:solidFill>
          <a:ln xmlns:a="http://schemas.openxmlformats.org/drawingml/2006/main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7416DFC-CC44-47C6-BD60-6E2EC954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857750"/>
            <a:ext cx="1047750" cy="476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D4A8DFA-FCEC-469A-BB2A-11C7CA9E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91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B194F9-666D-4040-970C-0F1D88B2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6863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5"/>
          </a:solidFill>
          <a:ln xmlns:a="http://schemas.openxmlformats.org/drawingml/2006/main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84E7CFA-7300-4904-A575-571EC1D2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6863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5"/>
          </a:solidFill>
          <a:ln xmlns:a="http://schemas.openxmlformats.org/drawingml/2006/main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6F215BD-A626-48E4-BFED-9F351C76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933950"/>
            <a:ext cx="571500" cy="495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516629F-CE2D-4C28-B5EA-4B55B8A7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343525"/>
            <a:ext cx="838200" cy="152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7A1F"/>
          </a:solidFill>
          <a:ln xmlns:a="http://schemas.openxmlformats.org/drawingml/2006/main" w="14288">
            <a:solidFill>
              <a:srgbClr val="17171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D2EBA5F-0345-4B76-B6D3-3B00B2B2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857750"/>
            <a:ext cx="1047750" cy="476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6E8159-5F27-4322-A5DF-3D2D7922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50006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FF"/>
          </a:solidFill>
          <a:ln xmlns:a="http://schemas.openxmlformats.org/drawingml/2006/main" w="13335">
            <a:solidFill>
              <a:srgbClr val="17171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0A25521-FEC8-41C5-A0D6-19B021A0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006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171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AFEC1ED-6F07-4587-8833-690889D4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510540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71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79ABB49-19CA-42FB-B891-9BEE69F3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52500"/>
            <a:ext cx="53340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rPr>
              <a:t>Ideas should not die</a:t>
            </a:r>
          </a:p>
          <a:p xmlns:a="http://schemas.openxmlformats.org/drawingml/2006/main">
            <a:pPr algn="l">
              <a:defRPr sz="420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rPr>
              <a:t>after the first</a:t>
            </a:r>
          </a:p>
          <a:p xmlns:a="http://schemas.openxmlformats.org/drawingml/2006/main">
            <a:pPr algn="l">
              <a:defRPr sz="420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rPr>
              <a:t>prototype.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A2CE4F6-F69C-45CD-8C92-B3CC28FE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C675F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6C675F"/>
                </a:solidFill>
                <a:latin typeface="Aptos"/>
                <a:ea typeface="Aptos"/>
                <a:cs typeface="Aptos"/>
              </a:rPr>
              <a:t>Student ideas need protection, proof, validation, and a path to continue.</a:t>
            </a:r>
          </a:p>
        </p:txBody>
      </p:sp>
    </p:spTree>
    <p:extLst>
      <p:ext uri="{BB962C8B-B14F-4D97-AF65-F5344CB8AC3E}">
        <p14:creationId xmlns:p14="http://schemas.microsoft.com/office/powerpoint/2010/main" val="8776361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card shadow">
            <a:extLst xmlns:a="http://schemas.openxmlformats.org/drawingml/2006/main">
              <a:ext uri="{FF2B5EF4-FFF2-40B4-BE49-F238E27FC236}">
                <a16:creationId xmlns:a16="http://schemas.microsoft.com/office/drawing/2014/main" id="{EF7B8E10-A793-497F-8A49-75EE5C4B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11315700" cy="6134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lide card">
            <a:extLst xmlns:a="http://schemas.openxmlformats.org/drawingml/2006/main">
              <a:ext uri="{FF2B5EF4-FFF2-40B4-BE49-F238E27FC236}">
                <a16:creationId xmlns:a16="http://schemas.microsoft.com/office/drawing/2014/main" id="{95FBBAB6-32F1-481B-AD4B-D25F2C89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11315700" cy="6134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3" name="orange title accent">
            <a:extLst xmlns:a="http://schemas.openxmlformats.org/drawingml/2006/main">
              <a:ext uri="{FF2B5EF4-FFF2-40B4-BE49-F238E27FC236}">
                <a16:creationId xmlns:a16="http://schemas.microsoft.com/office/drawing/2014/main" id="{230E657F-686B-4BF2-B3EC-802B615F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4850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A1F"/>
          </a:solidFill>
          <a:ln xmlns:a="http://schemas.openxmlformats.org/drawingml/2006/main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66DA8B-ECC9-4C2E-AB4D-E5013675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286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rPr>
              <a:t>Problem statement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9DC3A-9145-41B6-8734-C6234C5B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314450"/>
            <a:ext cx="2114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F42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A21DD7-8942-46CD-9342-E904FF83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238250"/>
            <a:ext cx="781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rPr>
              <a:t>The problem is not idea generation.</a:t>
            </a:r>
          </a:p>
          <a:p xmlns:a="http://schemas.openxmlformats.org/drawingml/2006/main">
            <a:pPr algn="l">
              <a:defRPr sz="2175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rPr>
              <a:t>The problem is idea continuation.</a:t>
            </a:r>
          </a:p>
        </p:txBody>
      </p:sp>
      <p:sp>
        <p:nvSpPr>
          <p:cNvPr id="7" name="Ideas start strong shadow">
            <a:extLst xmlns:a="http://schemas.openxmlformats.org/drawingml/2006/main">
              <a:ext uri="{FF2B5EF4-FFF2-40B4-BE49-F238E27FC236}">
                <a16:creationId xmlns:a16="http://schemas.microsoft.com/office/drawing/2014/main" id="{18993B96-D5C1-4184-8509-FDC2DA12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86000"/>
            <a:ext cx="2857500" cy="1200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8" name="Ideas start strong">
            <a:extLst xmlns:a="http://schemas.openxmlformats.org/drawingml/2006/main">
              <a:ext uri="{FF2B5EF4-FFF2-40B4-BE49-F238E27FC236}">
                <a16:creationId xmlns:a16="http://schemas.microsoft.com/office/drawing/2014/main" id="{CC43FCBC-C926-4B3F-9C12-21E5227D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47900"/>
            <a:ext cx="2857500" cy="1200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2916CB-62C1-4F01-BBAC-6222C94C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19350"/>
            <a:ext cx="266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A1F"/>
          </a:solidFill>
          <a:ln xmlns:a="http://schemas.openxmlformats.org/drawingml/2006/main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D91765-E599-4435-BA05-AA862228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33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rPr>
              <a:t>Ideas start strong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2DB5AC-ABD9-4D55-800C-70B90EFF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337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C675F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C675F"/>
                </a:solidFill>
                <a:latin typeface="Aptos"/>
                <a:ea typeface="Aptos"/>
                <a:cs typeface="Aptos"/>
              </a:rPr>
              <a:t>Hackathons and courses create momentum.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FF056B-BAC8-4A6E-B2BA-A48A8C2A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57450"/>
            <a:ext cx="361950" cy="3619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7A1F"/>
          </a:solidFill>
          <a:ln xmlns:a="http://schemas.openxmlformats.org/drawingml/2006/main" w="14288">
            <a:solidFill>
              <a:srgbClr val="17171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8E366F-E88B-47FE-BFA1-E3122513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38425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71715"/>
            </a:solidFill>
            <a:prstDash val="solid"/>
          </a:ln>
        </p:spPr>
      </p:sp>
      <p:sp>
        <p:nvSpPr>
          <p:cNvPr id="14" name="Proof gets lost shadow">
            <a:extLst xmlns:a="http://schemas.openxmlformats.org/drawingml/2006/main">
              <a:ext uri="{FF2B5EF4-FFF2-40B4-BE49-F238E27FC236}">
                <a16:creationId xmlns:a16="http://schemas.microsoft.com/office/drawing/2014/main" id="{A0001D68-15E5-43F1-92D9-CF26335D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86000"/>
            <a:ext cx="2857500" cy="1200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15" name="Proof gets lost">
            <a:extLst xmlns:a="http://schemas.openxmlformats.org/drawingml/2006/main">
              <a:ext uri="{FF2B5EF4-FFF2-40B4-BE49-F238E27FC236}">
                <a16:creationId xmlns:a16="http://schemas.microsoft.com/office/drawing/2014/main" id="{4BD5433C-279B-4A92-AC1C-EA673DFF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47900"/>
            <a:ext cx="2857500" cy="1200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44DCEA-D5E9-498E-B064-86FFE569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19350"/>
            <a:ext cx="266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A8FF"/>
          </a:solidFill>
          <a:ln xmlns:a="http://schemas.openxmlformats.org/drawingml/2006/main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F1A67A-2E54-4704-A214-202578C4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33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rPr>
              <a:t>Proof gets lost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06E042-88E1-4E33-A95E-548C73D6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337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C675F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C675F"/>
                </a:solidFill>
                <a:latin typeface="Aptos"/>
                <a:ea typeface="Aptos"/>
                <a:cs typeface="Aptos"/>
              </a:rPr>
              <a:t>Files, feedback, and authorship scatter.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78D9C9-7A55-48EE-9720-57AAF4FD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57450"/>
            <a:ext cx="361950" cy="3619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64A8FF"/>
          </a:solidFill>
          <a:ln xmlns:a="http://schemas.openxmlformats.org/drawingml/2006/main" w="14288">
            <a:solidFill>
              <a:srgbClr val="17171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86B923-48D7-4AEE-A840-3D23CFF7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38425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71715"/>
            </a:solidFill>
            <a:prstDash val="solid"/>
          </a:ln>
        </p:spPr>
      </p:sp>
      <p:sp>
        <p:nvSpPr>
          <p:cNvPr id="21" name="Support is fragmented shadow">
            <a:extLst xmlns:a="http://schemas.openxmlformats.org/drawingml/2006/main">
              <a:ext uri="{FF2B5EF4-FFF2-40B4-BE49-F238E27FC236}">
                <a16:creationId xmlns:a16="http://schemas.microsoft.com/office/drawing/2014/main" id="{BD47875E-015A-491D-B124-22E589D7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86000"/>
            <a:ext cx="2857500" cy="1200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22" name="Support is fragmented">
            <a:extLst xmlns:a="http://schemas.openxmlformats.org/drawingml/2006/main">
              <a:ext uri="{FF2B5EF4-FFF2-40B4-BE49-F238E27FC236}">
                <a16:creationId xmlns:a16="http://schemas.microsoft.com/office/drawing/2014/main" id="{6CB8BE32-CAF5-457D-B962-D8C649EA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47900"/>
            <a:ext cx="2857500" cy="1200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AE04DC-BFB5-4BDB-9F45-81BCE4ED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19350"/>
            <a:ext cx="266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F42"/>
          </a:solidFill>
          <a:ln xmlns:a="http://schemas.openxmlformats.org/drawingml/2006/main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67E551-19CF-446F-A8DB-F1C5326E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33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rPr>
              <a:t>Support is fragmented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4922EE-153A-4FB8-BB37-EEBE993F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337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C675F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C675F"/>
                </a:solidFill>
                <a:latin typeface="Aptos"/>
                <a:ea typeface="Aptos"/>
                <a:cs typeface="Aptos"/>
              </a:rPr>
              <a:t>Mentors, campuses, and backers work apart.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9BB92F-BEFC-46C2-A63C-21DC49CA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57450"/>
            <a:ext cx="361950" cy="3619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FFF42"/>
          </a:solidFill>
          <a:ln xmlns:a="http://schemas.openxmlformats.org/drawingml/2006/main" w="14288">
            <a:solidFill>
              <a:srgbClr val="17171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B9378C-68BC-47D9-B9C5-CE44C4CD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38425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7171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0963D0-A09D-4DEE-BD2D-375FCF56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229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C00C0D-3BAB-4B74-958A-E7560561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3243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5"/>
          </a:solidFill>
          <a:ln xmlns:a="http://schemas.openxmlformats.org/drawingml/2006/main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789569-D3FE-4D90-9E06-B9FB9329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3243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5"/>
          </a:solidFill>
          <a:ln xmlns:a="http://schemas.openxmlformats.org/drawingml/2006/main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B01CE4-2374-488F-8EA2-8AA96B26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72000"/>
            <a:ext cx="571500" cy="495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D3C863-F837-4990-ABA4-3E87062B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81575"/>
            <a:ext cx="838200" cy="152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7A1F"/>
          </a:solidFill>
          <a:ln xmlns:a="http://schemas.openxmlformats.org/drawingml/2006/main" w="14288">
            <a:solidFill>
              <a:srgbClr val="17171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B6F345-C01A-488D-835D-70184B32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143375"/>
            <a:ext cx="514350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CB3A7F-D785-4285-88D0-CEB2BDA9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410075"/>
            <a:ext cx="1333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ECC98F-0EDA-489A-8007-C1E9BAE7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25767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7171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48C7B4-0309-4A35-86AF-DA311E6E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34340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7171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A9E2A5-379D-4FEE-B70E-BD95D3F4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229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B64088-CD09-4601-9570-39C0DE99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243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5"/>
          </a:solidFill>
          <a:ln xmlns:a="http://schemas.openxmlformats.org/drawingml/2006/main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23AA77-3527-4376-B422-62D05108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3243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5"/>
          </a:solidFill>
          <a:ln xmlns:a="http://schemas.openxmlformats.org/drawingml/2006/main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38976B-8F4B-4E96-8813-BE43F6F7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72000"/>
            <a:ext cx="571500" cy="495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0DB158-60A5-448B-A15C-D3D1E8AE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981575"/>
            <a:ext cx="838200" cy="152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64A8FF"/>
          </a:solidFill>
          <a:ln xmlns:a="http://schemas.openxmlformats.org/drawingml/2006/main" w="14288">
            <a:solidFill>
              <a:srgbClr val="17171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BB543B-90C8-4EFC-9A8C-4CF1E8A9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143375"/>
            <a:ext cx="514350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3C3A2E2-039A-476A-96B2-D4365266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10075"/>
            <a:ext cx="1333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560989D-DBF0-45CC-886B-201B56F6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25767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7171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9BC9A35-82E3-497F-8C3D-26252FEA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34340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7171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1E5CCA-DEAE-4570-93E6-807748D6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4229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98ED6E-5D44-4C4A-B689-B9205231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3243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5"/>
          </a:solidFill>
          <a:ln xmlns:a="http://schemas.openxmlformats.org/drawingml/2006/main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843E3DB-6210-4403-9B4B-95071A9C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3243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5"/>
          </a:solidFill>
          <a:ln xmlns:a="http://schemas.openxmlformats.org/drawingml/2006/main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5B75457-1977-4A71-AB9E-C1A22B39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572000"/>
            <a:ext cx="571500" cy="495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94BD430-C797-4A0F-BD63-10DD07A2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981575"/>
            <a:ext cx="838200" cy="152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FFF42"/>
          </a:solidFill>
          <a:ln xmlns:a="http://schemas.openxmlformats.org/drawingml/2006/main" w="14288">
            <a:solidFill>
              <a:srgbClr val="17171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ABF8456-773C-4B56-A886-CB2F0135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4143375"/>
            <a:ext cx="514350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23099AB-6CC5-4363-9196-2793BFD1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4410075"/>
            <a:ext cx="1333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81BDCFD-2D1B-43F4-A467-39B625EA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25767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7171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BA93C0F-9203-469C-8FCA-F642459F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34340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7171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A767C83-5430-429C-B9D0-5EC23E08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791075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1B6"/>
            </a:solidFill>
            <a:prstDash val="dot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01ED1A9-B324-4178-83EA-E5697F6F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91075"/>
            <a:ext cx="2457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1B6"/>
            </a:solidFill>
            <a:prstDash val="dot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F2728FE-2B74-4A1C-89A8-06F5BED8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619750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6C675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6C675F"/>
                </a:solidFill>
                <a:latin typeface="Aptos"/>
                <a:ea typeface="Aptos"/>
                <a:cs typeface="Aptos"/>
              </a:rPr>
              <a:t>Post-hackathon drop-off is a continuation gap, not a creativity gap.</a:t>
            </a:r>
          </a:p>
        </p:txBody>
      </p:sp>
    </p:spTree>
    <p:extLst>
      <p:ext uri="{BB962C8B-B14F-4D97-AF65-F5344CB8AC3E}">
        <p14:creationId xmlns:p14="http://schemas.microsoft.com/office/powerpoint/2010/main" val="727672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card shadow">
            <a:extLst xmlns:a="http://schemas.openxmlformats.org/drawingml/2006/main">
              <a:ext uri="{FF2B5EF4-FFF2-40B4-BE49-F238E27FC236}">
                <a16:creationId xmlns:a16="http://schemas.microsoft.com/office/drawing/2014/main" id="{3AADEBB7-D6FA-4AB6-8E6B-4A35B32C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11315700" cy="6134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lide card">
            <a:extLst xmlns:a="http://schemas.openxmlformats.org/drawingml/2006/main">
              <a:ext uri="{FF2B5EF4-FFF2-40B4-BE49-F238E27FC236}">
                <a16:creationId xmlns:a16="http://schemas.microsoft.com/office/drawing/2014/main" id="{A65188F3-E640-4A75-BD93-ABE6F94A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11315700" cy="6134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3" name="orange title accent">
            <a:extLst xmlns:a="http://schemas.openxmlformats.org/drawingml/2006/main">
              <a:ext uri="{FF2B5EF4-FFF2-40B4-BE49-F238E27FC236}">
                <a16:creationId xmlns:a16="http://schemas.microsoft.com/office/drawing/2014/main" id="{C8713553-4105-4308-B923-B84AAB12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4850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A1F"/>
          </a:solidFill>
          <a:ln xmlns:a="http://schemas.openxmlformats.org/drawingml/2006/main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AB8520-15A8-4DB3-A8BF-5FD67AC6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286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rPr>
              <a:t>What is being solved</a:t>
            </a:r>
          </a:p>
        </p:txBody>
      </p:sp>
      <p:sp>
        <p:nvSpPr>
          <p:cNvPr id="5" name="For students shadow">
            <a:extLst xmlns:a="http://schemas.openxmlformats.org/drawingml/2006/main">
              <a:ext uri="{FF2B5EF4-FFF2-40B4-BE49-F238E27FC236}">
                <a16:creationId xmlns:a16="http://schemas.microsoft.com/office/drawing/2014/main" id="{40396657-90E4-4060-9496-E9E79252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3429000" cy="1581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For students">
            <a:extLst xmlns:a="http://schemas.openxmlformats.org/drawingml/2006/main">
              <a:ext uri="{FF2B5EF4-FFF2-40B4-BE49-F238E27FC236}">
                <a16:creationId xmlns:a16="http://schemas.microsoft.com/office/drawing/2014/main" id="{47B8E735-D8E8-4F9A-8C7E-C5756782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3429000" cy="1581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C08C98-A429-4339-9343-3173D49C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90700"/>
            <a:ext cx="266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F42"/>
          </a:solidFill>
          <a:ln xmlns:a="http://schemas.openxmlformats.org/drawingml/2006/main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35DBD0-4E60-40DD-B0CC-177BF48A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050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rPr>
              <a:t>For students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64A009-8FBC-44AA-8E47-3A8D3E62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C675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C675F"/>
                </a:solidFill>
                <a:latin typeface="Aptos"/>
                <a:ea typeface="Aptos"/>
                <a:cs typeface="Aptos"/>
              </a:rPr>
              <a:t>Safe continuation</a:t>
            </a:r>
          </a:p>
          <a:p xmlns:a="http://schemas.openxmlformats.org/drawingml/2006/main">
            <a:pPr algn="l">
              <a:defRPr sz="1125" b="0" i="0">
                <a:solidFill>
                  <a:srgbClr val="6C675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C675F"/>
                </a:solidFill>
                <a:latin typeface="Aptos"/>
                <a:ea typeface="Aptos"/>
                <a:cs typeface="Aptos"/>
              </a:rPr>
              <a:t>Ownership proof</a:t>
            </a:r>
          </a:p>
          <a:p xmlns:a="http://schemas.openxmlformats.org/drawingml/2006/main">
            <a:pPr algn="l">
              <a:defRPr sz="1125" b="0" i="0">
                <a:solidFill>
                  <a:srgbClr val="6C675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C675F"/>
                </a:solidFill>
                <a:latin typeface="Aptos"/>
                <a:ea typeface="Aptos"/>
                <a:cs typeface="Aptos"/>
              </a:rPr>
              <a:t>Controlled sharing</a:t>
            </a:r>
          </a:p>
        </p:txBody>
      </p:sp>
      <p:sp>
        <p:nvSpPr>
          <p:cNvPr id="10" name="For ecosystem shadow">
            <a:extLst xmlns:a="http://schemas.openxmlformats.org/drawingml/2006/main">
              <a:ext uri="{FF2B5EF4-FFF2-40B4-BE49-F238E27FC236}">
                <a16:creationId xmlns:a16="http://schemas.microsoft.com/office/drawing/2014/main" id="{355B3D07-606A-4E81-961B-5074E981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0450"/>
            <a:ext cx="3429000" cy="1581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11" name="For ecosystem">
            <a:extLst xmlns:a="http://schemas.openxmlformats.org/drawingml/2006/main">
              <a:ext uri="{FF2B5EF4-FFF2-40B4-BE49-F238E27FC236}">
                <a16:creationId xmlns:a16="http://schemas.microsoft.com/office/drawing/2014/main" id="{C4209191-6D7D-4F68-B1A9-19193447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3429000" cy="1581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E1F415-42A1-4400-B6CB-5088D9B6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33800"/>
            <a:ext cx="266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A1F"/>
          </a:solidFill>
          <a:ln xmlns:a="http://schemas.openxmlformats.org/drawingml/2006/main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A8CDC9-2DB2-4151-88B3-437E0E86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481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rPr>
              <a:t>For ecosystem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CD35D6-15E6-4AA5-9075-026C119D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C675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C675F"/>
                </a:solidFill>
                <a:latin typeface="Aptos"/>
                <a:ea typeface="Aptos"/>
                <a:cs typeface="Aptos"/>
              </a:rPr>
              <a:t>Trusted validation</a:t>
            </a:r>
          </a:p>
          <a:p xmlns:a="http://schemas.openxmlformats.org/drawingml/2006/main">
            <a:pPr algn="l">
              <a:defRPr sz="1125" b="0" i="0">
                <a:solidFill>
                  <a:srgbClr val="6C675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C675F"/>
                </a:solidFill>
                <a:latin typeface="Aptos"/>
                <a:ea typeface="Aptos"/>
                <a:cs typeface="Aptos"/>
              </a:rPr>
              <a:t>Mentor signal</a:t>
            </a:r>
          </a:p>
          <a:p xmlns:a="http://schemas.openxmlformats.org/drawingml/2006/main">
            <a:pPr algn="l">
              <a:defRPr sz="1125" b="0" i="0">
                <a:solidFill>
                  <a:srgbClr val="6C675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C675F"/>
                </a:solidFill>
                <a:latin typeface="Aptos"/>
                <a:ea typeface="Aptos"/>
                <a:cs typeface="Aptos"/>
              </a:rPr>
              <a:t>Investor confidence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5C6069-5C71-4DC1-BBCB-4DAD86C4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911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C675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6C675F"/>
                </a:solidFill>
                <a:latin typeface="Aptos"/>
                <a:ea typeface="Aptos"/>
                <a:cs typeface="Aptos"/>
              </a:rPr>
              <a:t>Launch as a curated trust-and-continuation platform first.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23B22F-0315-4AD2-AC54-B947D785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71650"/>
            <a:ext cx="2143125" cy="1752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100E"/>
          </a:solidFill>
          <a:ln xmlns:a="http://schemas.openxmlformats.org/drawingml/2006/main" w="19050">
            <a:solidFill>
              <a:srgbClr val="17171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2CA89A-C357-4CB7-A8AA-F7CD9809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981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A1F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B0CB03-BF2D-44E0-9205-7A1CAF74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981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FF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67865A-D281-49F8-A263-6ECD2DAF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81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F42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94CFDA-6295-4598-AF20-A2AC9F52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4574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FFF4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B5C0F5-3875-4B2A-82C1-3334A419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743200"/>
            <a:ext cx="1162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7A1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FC454C-92B5-44E1-8432-42CA4386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28950"/>
            <a:ext cx="1466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4A8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CC14DB-A210-4574-AE14-3FF3FE0C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1717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Version history</a:t>
            </a:r>
          </a:p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Proof of creation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A6B02D-4100-47F2-9DEB-EEC2FFC7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66975"/>
            <a:ext cx="723900" cy="838200"/>
          </a:xfrm>
          <a:prstGeom xmlns:a="http://schemas.openxmlformats.org/drawingml/2006/main" prst="homePlate">
            <a:avLst/>
          </a:prstGeom>
          <a:solidFill xmlns:a="http://schemas.openxmlformats.org/drawingml/2006/main">
            <a:srgbClr val="DFFF42"/>
          </a:solidFill>
          <a:ln xmlns:a="http://schemas.openxmlformats.org/drawingml/2006/main" w="19050">
            <a:solidFill>
              <a:srgbClr val="17171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B3E4CA-4B54-440D-830F-93A54550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90850"/>
            <a:ext cx="9525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38">
            <a:solidFill>
              <a:srgbClr val="17171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81CA0C-51FB-4087-8691-4E4DEA0D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57500"/>
            <a:ext cx="209550" cy="228600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33338">
            <a:solidFill>
              <a:srgbClr val="17171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F9EC6A-4A33-424E-BC64-FA5CA7F7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43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1110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1110F"/>
                </a:solidFill>
                <a:latin typeface="Aptos"/>
                <a:ea typeface="Aptos"/>
                <a:cs typeface="Aptos"/>
              </a:rPr>
              <a:t>Validation layer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DD18BA-9FDE-48EF-B555-F3DC1BE6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647950"/>
            <a:ext cx="161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715"/>
            </a:solidFill>
            <a:prstDash val="dot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E7D942-ADBD-4206-B6FF-503BEE75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47950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715"/>
            </a:solidFill>
            <a:prstDash val="dot"/>
          </a:ln>
        </p:spPr>
      </p:sp>
      <p:sp>
        <p:nvSpPr>
          <p:cNvPr id="30" name="card shadow">
            <a:extLst xmlns:a="http://schemas.openxmlformats.org/drawingml/2006/main">
              <a:ext uri="{FF2B5EF4-FFF2-40B4-BE49-F238E27FC236}">
                <a16:creationId xmlns:a16="http://schemas.microsoft.com/office/drawing/2014/main" id="{9C0A72BD-7A24-4C7C-B769-FC3EAB61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57375"/>
            <a:ext cx="2286000" cy="21526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31" name="card">
            <a:extLst xmlns:a="http://schemas.openxmlformats.org/drawingml/2006/main">
              <a:ext uri="{FF2B5EF4-FFF2-40B4-BE49-F238E27FC236}">
                <a16:creationId xmlns:a16="http://schemas.microsoft.com/office/drawing/2014/main" id="{36D68480-A581-4177-8641-88B60641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2286000" cy="21526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445A17-F420-4A87-9B5A-CA1C5BC2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574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rPr>
              <a:t>Mentor review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F6A105-E189-4A98-8977-E10B0174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14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F42"/>
          </a:solidFill>
          <a:ln xmlns:a="http://schemas.openxmlformats.org/drawingml/2006/main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89ADDB-ED43-4819-BB0F-90B1C8D5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765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C675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C675F"/>
                </a:solidFill>
                <a:latin typeface="Aptos"/>
                <a:ea typeface="Aptos"/>
                <a:cs typeface="Aptos"/>
              </a:rPr>
              <a:t>Originality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8CE86A-8F22-43E6-8FCB-D2C64156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19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FF"/>
          </a:solidFill>
          <a:ln xmlns:a="http://schemas.openxmlformats.org/drawingml/2006/main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5C829F-F765-49AE-AB8D-D935BF0F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813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C675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C675F"/>
                </a:solidFill>
                <a:latin typeface="Aptos"/>
                <a:ea typeface="Aptos"/>
                <a:cs typeface="Aptos"/>
              </a:rPr>
              <a:t>Feasibility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BCA8A3-6F1D-4115-8EEC-2E10E45B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24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A1F"/>
          </a:solidFill>
          <a:ln xmlns:a="http://schemas.openxmlformats.org/drawingml/2006/main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0930D5-1B99-474C-BD8F-2E1FCE89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861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C675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C675F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3E26FD-8651-42C2-9B0C-9430FFC5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432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1110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1110F"/>
                </a:solidFill>
                <a:latin typeface="Aptos"/>
                <a:ea typeface="Aptos"/>
                <a:cs typeface="Aptos"/>
              </a:rPr>
              <a:t>Validation score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AF6CD8-6F30-418B-BFEA-02E6D46B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00450"/>
            <a:ext cx="161925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3EA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BAD5D42-1AD5-4BC9-8E9F-C0A145BE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648075"/>
            <a:ext cx="1165860" cy="1333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FFF42"/>
          </a:solidFill>
          <a:ln xmlns:a="http://schemas.openxmlformats.org/drawingml/2006/main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220ECC3-A9E5-4696-BD11-952CE4C2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86300"/>
            <a:ext cx="2952750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CFF99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0CABEDB-AAEE-4B99-BE79-E75F7FCB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148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10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1110F"/>
                </a:solidFill>
                <a:latin typeface="Aptos"/>
                <a:ea typeface="Aptos"/>
                <a:cs typeface="Aptos"/>
              </a:rPr>
              <a:t>Curated access builds trust</a:t>
            </a:r>
          </a:p>
        </p:txBody>
      </p:sp>
    </p:spTree>
    <p:extLst>
      <p:ext uri="{BB962C8B-B14F-4D97-AF65-F5344CB8AC3E}">
        <p14:creationId xmlns:p14="http://schemas.microsoft.com/office/powerpoint/2010/main" val="698568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card shadow">
            <a:extLst xmlns:a="http://schemas.openxmlformats.org/drawingml/2006/main">
              <a:ext uri="{FF2B5EF4-FFF2-40B4-BE49-F238E27FC236}">
                <a16:creationId xmlns:a16="http://schemas.microsoft.com/office/drawing/2014/main" id="{26947E93-2F33-4E9A-8796-EB4BC81A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11315700" cy="6134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lide card">
            <a:extLst xmlns:a="http://schemas.openxmlformats.org/drawingml/2006/main">
              <a:ext uri="{FF2B5EF4-FFF2-40B4-BE49-F238E27FC236}">
                <a16:creationId xmlns:a16="http://schemas.microsoft.com/office/drawing/2014/main" id="{27D2B52E-D6F1-4A91-AD7A-305C078C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11315700" cy="6134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3" name="orange title accent">
            <a:extLst xmlns:a="http://schemas.openxmlformats.org/drawingml/2006/main">
              <a:ext uri="{FF2B5EF4-FFF2-40B4-BE49-F238E27FC236}">
                <a16:creationId xmlns:a16="http://schemas.microsoft.com/office/drawing/2014/main" id="{44D254D5-19F4-406E-9FAB-7F7D3161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4850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A1F"/>
          </a:solidFill>
          <a:ln xmlns:a="http://schemas.openxmlformats.org/drawingml/2006/main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8C2F8D-A7C5-4D4B-808E-E38AEDB7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286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rPr>
              <a:t>How it works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7EE089-BA8A-41EA-B58C-C7991D30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95500"/>
            <a:ext cx="9810750" cy="21145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3EA"/>
          </a:solidFill>
          <a:ln xmlns:a="http://schemas.openxmlformats.org/drawingml/2006/main" w="14288">
            <a:solidFill>
              <a:srgbClr val="17171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0015E5-F4D6-4D88-A2FF-0AEABD35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143250"/>
            <a:ext cx="8553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EB7AB"/>
            </a:solidFill>
            <a:prstDash val="dot"/>
          </a:ln>
        </p:spPr>
      </p:sp>
      <p:sp>
        <p:nvSpPr>
          <p:cNvPr id="7" name="card shadow">
            <a:extLst xmlns:a="http://schemas.openxmlformats.org/drawingml/2006/main">
              <a:ext uri="{FF2B5EF4-FFF2-40B4-BE49-F238E27FC236}">
                <a16:creationId xmlns:a16="http://schemas.microsoft.com/office/drawing/2014/main" id="{0EA51A9E-64CE-4538-9DFC-9D842C60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371725"/>
            <a:ext cx="1219200" cy="1581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8" name="card">
            <a:extLst xmlns:a="http://schemas.openxmlformats.org/drawingml/2006/main">
              <a:ext uri="{FF2B5EF4-FFF2-40B4-BE49-F238E27FC236}">
                <a16:creationId xmlns:a16="http://schemas.microsoft.com/office/drawing/2014/main" id="{396BBEC1-C591-450E-A9CD-B63CB453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43150"/>
            <a:ext cx="1219200" cy="1581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3D750F-F67E-4DFB-8ABC-7FF2D602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609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A1F"/>
          </a:solidFill>
          <a:ln xmlns:a="http://schemas.openxmlformats.org/drawingml/2006/main" w="14288">
            <a:solidFill>
              <a:srgbClr val="17171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87191B-A845-404F-B043-4F0659F1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876550"/>
            <a:ext cx="9525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7171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C7A227-8AD1-4E46-A80B-3A24B231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743200"/>
            <a:ext cx="209550" cy="228600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7171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97A2B7-C36F-4144-A180-D09FCF08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194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23FF9F-0AC0-4843-8E70-3DD246DC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524250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C675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C675F"/>
                </a:solidFill>
                <a:latin typeface="Aptos"/>
                <a:ea typeface="Aptos"/>
                <a:cs typeface="Aptos"/>
              </a:rPr>
              <a:t>Student identity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80CB04-3961-45E9-AC6A-5F2D8400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086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F42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15" name="card shadow">
            <a:extLst xmlns:a="http://schemas.openxmlformats.org/drawingml/2006/main">
              <a:ext uri="{FF2B5EF4-FFF2-40B4-BE49-F238E27FC236}">
                <a16:creationId xmlns:a16="http://schemas.microsoft.com/office/drawing/2014/main" id="{A1D78BF1-5F22-4ADF-83A4-1BACADCE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371725"/>
            <a:ext cx="1219200" cy="1581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16" name="card">
            <a:extLst xmlns:a="http://schemas.openxmlformats.org/drawingml/2006/main">
              <a:ext uri="{FF2B5EF4-FFF2-40B4-BE49-F238E27FC236}">
                <a16:creationId xmlns:a16="http://schemas.microsoft.com/office/drawing/2014/main" id="{BE0A9FEE-DF02-4224-AD23-8489B23D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43150"/>
            <a:ext cx="1219200" cy="1581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4784D9-4196-4BA1-B006-ACDFF25F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47950"/>
            <a:ext cx="419100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F9693A-DBD0-482F-AE19-79E6022F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562225"/>
            <a:ext cx="247650" cy="2667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64A8FF"/>
          </a:solidFill>
          <a:ln xmlns:a="http://schemas.openxmlformats.org/drawingml/2006/main" w="13335">
            <a:solidFill>
              <a:srgbClr val="17171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374D7D-2496-4EB4-8465-F17E927A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2194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rPr>
              <a:t>Upload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6AD86F-5610-49D7-847B-C660A78B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524250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C675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C675F"/>
                </a:solidFill>
                <a:latin typeface="Aptos"/>
                <a:ea typeface="Aptos"/>
                <a:cs typeface="Aptos"/>
              </a:rPr>
              <a:t>Project 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B1DDCC-D276-4954-930A-A2CFD6CD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86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F42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22" name="card shadow">
            <a:extLst xmlns:a="http://schemas.openxmlformats.org/drawingml/2006/main">
              <a:ext uri="{FF2B5EF4-FFF2-40B4-BE49-F238E27FC236}">
                <a16:creationId xmlns:a16="http://schemas.microsoft.com/office/drawing/2014/main" id="{51B0DB58-E135-4BC1-ADE8-0DC3CFD8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71725"/>
            <a:ext cx="1219200" cy="1581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23" name="card">
            <a:extLst xmlns:a="http://schemas.openxmlformats.org/drawingml/2006/main">
              <a:ext uri="{FF2B5EF4-FFF2-40B4-BE49-F238E27FC236}">
                <a16:creationId xmlns:a16="http://schemas.microsoft.com/office/drawing/2014/main" id="{015F4676-6298-41B8-B88D-E4DA5FAA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43150"/>
            <a:ext cx="1219200" cy="1581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64F287-0A92-4DF7-8863-50A68A5D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09825"/>
            <a:ext cx="723900" cy="838200"/>
          </a:xfrm>
          <a:prstGeom xmlns:a="http://schemas.openxmlformats.org/drawingml/2006/main" prst="homePlate">
            <a:avLst/>
          </a:prstGeom>
          <a:solidFill xmlns:a="http://schemas.openxmlformats.org/drawingml/2006/main">
            <a:srgbClr val="DFFF42"/>
          </a:solidFill>
          <a:ln xmlns:a="http://schemas.openxmlformats.org/drawingml/2006/main" w="19050">
            <a:solidFill>
              <a:srgbClr val="17171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14E490-BB94-4D29-A0D4-852D5896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33700"/>
            <a:ext cx="9525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38">
            <a:solidFill>
              <a:srgbClr val="17171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CF691E-ECFE-4EC7-A0F8-83DAA797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00350"/>
            <a:ext cx="209550" cy="228600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33338">
            <a:solidFill>
              <a:srgbClr val="17171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AF1713-8DD1-4D0A-B28B-B702CEEC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194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rPr>
              <a:t>Protect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35592E-B0FC-4128-B76B-7405E5E9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524250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C675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C675F"/>
                </a:solidFill>
                <a:latin typeface="Aptos"/>
                <a:ea typeface="Aptos"/>
                <a:cs typeface="Aptos"/>
              </a:rPr>
              <a:t>Version history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BCE54-47E5-4DFA-923E-0CDA79D8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086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F42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30" name="card shadow">
            <a:extLst xmlns:a="http://schemas.openxmlformats.org/drawingml/2006/main">
              <a:ext uri="{FF2B5EF4-FFF2-40B4-BE49-F238E27FC236}">
                <a16:creationId xmlns:a16="http://schemas.microsoft.com/office/drawing/2014/main" id="{3430EFCA-E8FE-4F88-B2DE-E831A9D4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71725"/>
            <a:ext cx="1219200" cy="1581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31" name="card">
            <a:extLst xmlns:a="http://schemas.openxmlformats.org/drawingml/2006/main">
              <a:ext uri="{FF2B5EF4-FFF2-40B4-BE49-F238E27FC236}">
                <a16:creationId xmlns:a16="http://schemas.microsoft.com/office/drawing/2014/main" id="{BD017491-FF10-41C0-9921-DD4455FE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43150"/>
            <a:ext cx="1219200" cy="1581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96B33B-5744-4FFE-ACDD-F44AFC85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628900"/>
            <a:ext cx="476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EEFD8"/>
          </a:solidFill>
          <a:ln xmlns:a="http://schemas.openxmlformats.org/drawingml/2006/main" w="14288">
            <a:solidFill>
              <a:srgbClr val="17171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74A11B-7BA0-4F2C-ABF6-13DDD2BB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432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7171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7C0A3F-1EC3-4A88-830D-E39E5328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47975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7171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AAC38A-0AE2-4016-9065-50DBAE8B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194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rPr>
              <a:t>Review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F8D2CA-F99A-4F65-969C-EF818836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24250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C675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C675F"/>
                </a:solidFill>
                <a:latin typeface="Aptos"/>
                <a:ea typeface="Aptos"/>
                <a:cs typeface="Aptos"/>
              </a:rPr>
              <a:t>Mentor score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60EB5F-A86E-4330-A337-824CE4A7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086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F42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38" name="card shadow">
            <a:extLst xmlns:a="http://schemas.openxmlformats.org/drawingml/2006/main">
              <a:ext uri="{FF2B5EF4-FFF2-40B4-BE49-F238E27FC236}">
                <a16:creationId xmlns:a16="http://schemas.microsoft.com/office/drawing/2014/main" id="{B3B61429-F438-4038-91CB-74AAEA03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371725"/>
            <a:ext cx="1219200" cy="1581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39" name="card">
            <a:extLst xmlns:a="http://schemas.openxmlformats.org/drawingml/2006/main">
              <a:ext uri="{FF2B5EF4-FFF2-40B4-BE49-F238E27FC236}">
                <a16:creationId xmlns:a16="http://schemas.microsoft.com/office/drawing/2014/main" id="{937FBFCD-3C53-4971-AE28-2F38753D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43150"/>
            <a:ext cx="1219200" cy="1581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0025481-E84B-4645-86ED-1EDE309B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705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FF"/>
          </a:solidFill>
          <a:ln xmlns:a="http://schemas.openxmlformats.org/drawingml/2006/main" w="13335">
            <a:solidFill>
              <a:srgbClr val="17171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7C1A167-5ADD-4D03-BC12-DD99F782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705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171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437D0D0-6994-44EF-895F-D88D3962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809875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171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849EC7E-BE24-45BF-92C4-300A155D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194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rPr>
              <a:t>Match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04A6B6E-3947-4F02-9509-9E4EC65B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C675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C675F"/>
                </a:solidFill>
                <a:latin typeface="Aptos"/>
                <a:ea typeface="Aptos"/>
                <a:cs typeface="Aptos"/>
              </a:rPr>
              <a:t>Collaborators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5FC4846-AD3A-4540-A4F7-AB887F4D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86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F42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46" name="card shadow">
            <a:extLst xmlns:a="http://schemas.openxmlformats.org/drawingml/2006/main">
              <a:ext uri="{FF2B5EF4-FFF2-40B4-BE49-F238E27FC236}">
                <a16:creationId xmlns:a16="http://schemas.microsoft.com/office/drawing/2014/main" id="{62F9CA12-BC57-4505-A3C1-8E68F093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371725"/>
            <a:ext cx="1219200" cy="1581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47" name="card">
            <a:extLst xmlns:a="http://schemas.openxmlformats.org/drawingml/2006/main">
              <a:ext uri="{FF2B5EF4-FFF2-40B4-BE49-F238E27FC236}">
                <a16:creationId xmlns:a16="http://schemas.microsoft.com/office/drawing/2014/main" id="{20438B3F-4A4D-4E64-831E-D15FC4E9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43150"/>
            <a:ext cx="1219200" cy="1581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39CB71C-A6B8-438E-9702-ACEBAFC6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28900"/>
            <a:ext cx="342900" cy="342900"/>
          </a:xfrm>
          <a:prstGeom xmlns:a="http://schemas.openxmlformats.org/drawingml/2006/main" prst="circularArrow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47A1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39D404C-C434-4349-9BDA-1C4BB5A3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194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rPr>
              <a:t>Continue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1EFB6E4-8491-4E77-8AB5-CD339D1F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524250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C675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C675F"/>
                </a:solidFill>
                <a:latin typeface="Aptos"/>
                <a:ea typeface="Aptos"/>
                <a:cs typeface="Aptos"/>
              </a:rPr>
              <a:t>Milestones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3DC768F-57CC-4E75-AE79-2598613D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62500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C675F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C675F"/>
                </a:solidFill>
                <a:latin typeface="Aptos"/>
                <a:ea typeface="Aptos"/>
                <a:cs typeface="Aptos"/>
              </a:rPr>
              <a:t>Student verification, proof of creation, structured feedback, and collaborator discovery stay attached to the same project record.</a:t>
            </a:r>
          </a:p>
        </p:txBody>
      </p:sp>
    </p:spTree>
    <p:extLst>
      <p:ext uri="{BB962C8B-B14F-4D97-AF65-F5344CB8AC3E}">
        <p14:creationId xmlns:p14="http://schemas.microsoft.com/office/powerpoint/2010/main" val="15088424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card shadow">
            <a:extLst xmlns:a="http://schemas.openxmlformats.org/drawingml/2006/main">
              <a:ext uri="{FF2B5EF4-FFF2-40B4-BE49-F238E27FC236}">
                <a16:creationId xmlns:a16="http://schemas.microsoft.com/office/drawing/2014/main" id="{34DEC66C-FEA0-4DF2-A9A4-126D1238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11315700" cy="6134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lide card">
            <a:extLst xmlns:a="http://schemas.openxmlformats.org/drawingml/2006/main">
              <a:ext uri="{FF2B5EF4-FFF2-40B4-BE49-F238E27FC236}">
                <a16:creationId xmlns:a16="http://schemas.microsoft.com/office/drawing/2014/main" id="{CC99A931-64C8-4E75-B61F-EB81FB75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11315700" cy="6134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3" name="orange title accent">
            <a:extLst xmlns:a="http://schemas.openxmlformats.org/drawingml/2006/main">
              <a:ext uri="{FF2B5EF4-FFF2-40B4-BE49-F238E27FC236}">
                <a16:creationId xmlns:a16="http://schemas.microsoft.com/office/drawing/2014/main" id="{F3E20452-25B2-4356-8EC0-0511D046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4850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A1F"/>
          </a:solidFill>
          <a:ln xmlns:a="http://schemas.openxmlformats.org/drawingml/2006/main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C97D57-28C7-4816-BED9-A45516C7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286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rPr>
              <a:t>Value proposition</a:t>
            </a:r>
          </a:p>
        </p:txBody>
      </p:sp>
      <p:sp>
        <p:nvSpPr>
          <p:cNvPr id="5" name="For students shadow">
            <a:extLst xmlns:a="http://schemas.openxmlformats.org/drawingml/2006/main">
              <a:ext uri="{FF2B5EF4-FFF2-40B4-BE49-F238E27FC236}">
                <a16:creationId xmlns:a16="http://schemas.microsoft.com/office/drawing/2014/main" id="{773D991C-FF0E-429A-B47F-BCCD50AD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485900"/>
            <a:ext cx="3028950" cy="1485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For students">
            <a:extLst xmlns:a="http://schemas.openxmlformats.org/drawingml/2006/main">
              <a:ext uri="{FF2B5EF4-FFF2-40B4-BE49-F238E27FC236}">
                <a16:creationId xmlns:a16="http://schemas.microsoft.com/office/drawing/2014/main" id="{5F325FE3-3276-4263-8B51-3707C843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47800"/>
            <a:ext cx="3028950" cy="1485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DE0DFE-96B3-4104-8664-71AFF766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66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A1F"/>
          </a:solidFill>
          <a:ln xmlns:a="http://schemas.openxmlformats.org/drawingml/2006/main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F34DD9-FA0A-40C2-8DD4-41494AF2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335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rPr>
              <a:t>For students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C9D9A3-B460-470F-AECD-7FE98521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33600"/>
            <a:ext cx="2647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C675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C675F"/>
                </a:solidFill>
                <a:latin typeface="Aptos"/>
                <a:ea typeface="Aptos"/>
                <a:cs typeface="Aptos"/>
              </a:rPr>
              <a:t>Protect the idea and keep momentum.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BF2A1B-A5C8-49A5-A33C-C24F799F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543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9212E6-7C6A-4B66-B844-665E7F0C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383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5"/>
          </a:solidFill>
          <a:ln xmlns:a="http://schemas.openxmlformats.org/drawingml/2006/main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58143C-E06C-4F67-A9BD-04B1D067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383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5"/>
          </a:solidFill>
          <a:ln xmlns:a="http://schemas.openxmlformats.org/drawingml/2006/main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0C7CB9-041D-4FAE-B4C9-38A8F23B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85950"/>
            <a:ext cx="571500" cy="495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3D22C3-61A6-45E3-B77F-9CFD2877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95525"/>
            <a:ext cx="838200" cy="152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7A1F"/>
          </a:solidFill>
          <a:ln xmlns:a="http://schemas.openxmlformats.org/drawingml/2006/main" w="14288">
            <a:solidFill>
              <a:srgbClr val="171715"/>
            </a:solidFill>
            <a:prstDash val="solid"/>
          </a:ln>
        </p:spPr>
      </p:sp>
      <p:sp>
        <p:nvSpPr>
          <p:cNvPr id="15" name="For mentors shadow">
            <a:extLst xmlns:a="http://schemas.openxmlformats.org/drawingml/2006/main">
              <a:ext uri="{FF2B5EF4-FFF2-40B4-BE49-F238E27FC236}">
                <a16:creationId xmlns:a16="http://schemas.microsoft.com/office/drawing/2014/main" id="{B14F4D10-79BF-4371-A283-2BD7AB00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85900"/>
            <a:ext cx="3028950" cy="1485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16" name="For mentors">
            <a:extLst xmlns:a="http://schemas.openxmlformats.org/drawingml/2006/main">
              <a:ext uri="{FF2B5EF4-FFF2-40B4-BE49-F238E27FC236}">
                <a16:creationId xmlns:a16="http://schemas.microsoft.com/office/drawing/2014/main" id="{EEC9966A-0777-4C43-ADBC-FE7A28A2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447800"/>
            <a:ext cx="3028950" cy="1485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BA3EE4-19CF-4640-87E8-CD40DF80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19250"/>
            <a:ext cx="266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A8FF"/>
          </a:solidFill>
          <a:ln xmlns:a="http://schemas.openxmlformats.org/drawingml/2006/main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197941-A03E-4F8E-8357-DBAC5929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7335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rPr>
              <a:t>For mentors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CFBD04-6077-4FC8-9E3B-28D61333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33600"/>
            <a:ext cx="2647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C675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C675F"/>
                </a:solidFill>
                <a:latin typeface="Aptos"/>
                <a:ea typeface="Aptos"/>
                <a:cs typeface="Aptos"/>
              </a:rPr>
              <a:t>Validate originality, feasibility, and next steps.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221221-4E5D-4CC3-AAFA-6A416696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838325"/>
            <a:ext cx="476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64A8FF"/>
          </a:solidFill>
          <a:ln xmlns:a="http://schemas.openxmlformats.org/drawingml/2006/main" w="14288">
            <a:solidFill>
              <a:srgbClr val="17171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62DDDF-4D7E-4302-AE32-A99DFC77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5262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7171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C245A4-CAE0-4C99-B11C-52491000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5740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71715"/>
            </a:solidFill>
            <a:prstDash val="solid"/>
          </a:ln>
        </p:spPr>
      </p:sp>
      <p:sp>
        <p:nvSpPr>
          <p:cNvPr id="23" name="For investors shadow">
            <a:extLst xmlns:a="http://schemas.openxmlformats.org/drawingml/2006/main">
              <a:ext uri="{FF2B5EF4-FFF2-40B4-BE49-F238E27FC236}">
                <a16:creationId xmlns:a16="http://schemas.microsoft.com/office/drawing/2014/main" id="{A2647593-D3B0-43E5-B789-1E426E85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85900"/>
            <a:ext cx="3028950" cy="1485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24" name="For investors">
            <a:extLst xmlns:a="http://schemas.openxmlformats.org/drawingml/2006/main">
              <a:ext uri="{FF2B5EF4-FFF2-40B4-BE49-F238E27FC236}">
                <a16:creationId xmlns:a16="http://schemas.microsoft.com/office/drawing/2014/main" id="{85B850CA-E36D-4737-8C1E-8478BA7F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447800"/>
            <a:ext cx="3028950" cy="1485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E1D22E-71B0-4A5A-8A09-8435B0B1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19250"/>
            <a:ext cx="266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F42"/>
          </a:solidFill>
          <a:ln xmlns:a="http://schemas.openxmlformats.org/drawingml/2006/main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4B25AF-774D-45ED-B078-AA2999F4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335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rPr>
              <a:t>For investors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903452-B36A-40F6-BBC2-78725A25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33600"/>
            <a:ext cx="2647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C675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C675F"/>
                </a:solidFill>
                <a:latin typeface="Aptos"/>
                <a:ea typeface="Aptos"/>
                <a:cs typeface="Aptos"/>
              </a:rPr>
              <a:t>Review trusted early opportunities.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6A8566-D2D4-48C2-9027-F5E6520F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6954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F42"/>
          </a:solidFill>
          <a:ln xmlns:a="http://schemas.openxmlformats.org/drawingml/2006/main" w="14288">
            <a:solidFill>
              <a:srgbClr val="17171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196F94-482F-40C0-9351-97421327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1838325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7171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990621-8D2F-44CA-AAA6-C30E9235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752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7171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454B61-CF9F-4BFF-94A7-20EFFA42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33800"/>
            <a:ext cx="9601200" cy="1962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3EA"/>
          </a:solidFill>
          <a:ln xmlns:a="http://schemas.openxmlformats.org/drawingml/2006/main" w="14288">
            <a:solidFill>
              <a:srgbClr val="17171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6A7896-5CEC-46D6-B31C-69D86429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9528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0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1110F"/>
                </a:solidFill>
                <a:latin typeface="Aptos"/>
                <a:ea typeface="Aptos"/>
                <a:cs typeface="Aptos"/>
              </a:rPr>
              <a:t>Student trust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47BFB5-7BE1-4DA1-956E-78B7C7EA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210050"/>
            <a:ext cx="781050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BE7DE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70CA4B-F8A5-4698-9AF4-1A79B835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257675"/>
            <a:ext cx="4061460" cy="1333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7A1F"/>
          </a:solidFill>
          <a:ln xmlns:a="http://schemas.openxmlformats.org/drawingml/2006/main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812F0A-0304-4BDA-A22C-9A89C19D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5243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0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1110F"/>
                </a:solidFill>
                <a:latin typeface="Aptos"/>
                <a:ea typeface="Aptos"/>
                <a:cs typeface="Aptos"/>
              </a:rPr>
              <a:t>Mentor signal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46ACFB-8CDB-4091-B19A-11B74087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781550"/>
            <a:ext cx="781050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BE7DE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71E83A-1615-4F81-9FBF-F2AE8667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829175"/>
            <a:ext cx="5311140" cy="1333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64A8FF"/>
          </a:solidFill>
          <a:ln xmlns:a="http://schemas.openxmlformats.org/drawingml/2006/main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8E6DB8-1294-4884-A722-8F84AC9E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0958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0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1110F"/>
                </a:solidFill>
                <a:latin typeface="Aptos"/>
                <a:ea typeface="Aptos"/>
                <a:cs typeface="Aptos"/>
              </a:rPr>
              <a:t>Investor confidence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BB5A03-4086-454A-847A-293581A1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353050"/>
            <a:ext cx="781050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BE7DE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1C94B0-A00C-4786-AB72-786AEDBD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400675"/>
            <a:ext cx="6170295" cy="1333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FFF42"/>
          </a:solidFill>
          <a:ln xmlns:a="http://schemas.openxmlformats.org/drawingml/2006/main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8A57D7-9CBF-489F-AB2B-0132D300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432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C675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6C675F"/>
                </a:solidFill>
                <a:latin typeface="Aptos"/>
                <a:ea typeface="Aptos"/>
                <a:cs typeface="Aptos"/>
              </a:rPr>
              <a:t>Trust is earned through controlled access and visible validation, not open-ended exposure.</a:t>
            </a:r>
          </a:p>
        </p:txBody>
      </p:sp>
    </p:spTree>
    <p:extLst>
      <p:ext uri="{BB962C8B-B14F-4D97-AF65-F5344CB8AC3E}">
        <p14:creationId xmlns:p14="http://schemas.microsoft.com/office/powerpoint/2010/main" val="13673989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card shadow">
            <a:extLst xmlns:a="http://schemas.openxmlformats.org/drawingml/2006/main">
              <a:ext uri="{FF2B5EF4-FFF2-40B4-BE49-F238E27FC236}">
                <a16:creationId xmlns:a16="http://schemas.microsoft.com/office/drawing/2014/main" id="{6103B531-EAC5-4870-9A4F-87469C85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11315700" cy="6134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lide card">
            <a:extLst xmlns:a="http://schemas.openxmlformats.org/drawingml/2006/main">
              <a:ext uri="{FF2B5EF4-FFF2-40B4-BE49-F238E27FC236}">
                <a16:creationId xmlns:a16="http://schemas.microsoft.com/office/drawing/2014/main" id="{0AD6D297-E50E-42D4-8AFA-C0CDC688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11315700" cy="6134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3" name="orange title accent">
            <a:extLst xmlns:a="http://schemas.openxmlformats.org/drawingml/2006/main">
              <a:ext uri="{FF2B5EF4-FFF2-40B4-BE49-F238E27FC236}">
                <a16:creationId xmlns:a16="http://schemas.microsoft.com/office/drawing/2014/main" id="{F87B1F8E-C1BA-466B-A40C-1E55223E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4850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A1F"/>
          </a:solidFill>
          <a:ln xmlns:a="http://schemas.openxmlformats.org/drawingml/2006/main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981AED-130B-43B4-8FE1-A7F66189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286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rPr>
              <a:t>Failure and recovery</a:t>
            </a:r>
          </a:p>
        </p:txBody>
      </p:sp>
      <p:sp>
        <p:nvSpPr>
          <p:cNvPr id="5" name="card shadow">
            <a:extLst xmlns:a="http://schemas.openxmlformats.org/drawingml/2006/main">
              <a:ext uri="{FF2B5EF4-FFF2-40B4-BE49-F238E27FC236}">
                <a16:creationId xmlns:a16="http://schemas.microsoft.com/office/drawing/2014/main" id="{DF4CD4D4-8C44-4E2A-AA21-69B3D971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85900"/>
            <a:ext cx="4286250" cy="1466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card">
            <a:extLst xmlns:a="http://schemas.openxmlformats.org/drawingml/2006/main">
              <a:ext uri="{FF2B5EF4-FFF2-40B4-BE49-F238E27FC236}">
                <a16:creationId xmlns:a16="http://schemas.microsoft.com/office/drawing/2014/main" id="{D1ACE78A-F6D8-4C08-BFAF-990E1A64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47800"/>
            <a:ext cx="4286250" cy="1466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E9DF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5588A6-DC59-421B-AE79-0D28AB1C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76400"/>
            <a:ext cx="3619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A1F"/>
          </a:solidFill>
          <a:ln xmlns:a="http://schemas.openxmlformats.org/drawingml/2006/main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E05C4A-6CA6-487B-B516-6EB9AB86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8954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C675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C675F"/>
                </a:solidFill>
                <a:latin typeface="Aptos"/>
                <a:ea typeface="Aptos"/>
                <a:cs typeface="Aptos"/>
              </a:rPr>
              <a:t>Failure mode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10CD8E-F2EB-4454-A3A2-C8DD32F3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717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rPr>
              <a:t>Feedback disappears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EC2830-9B53-448D-AEAB-7CBA75E6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066925"/>
            <a:ext cx="476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7A1F"/>
          </a:solidFill>
          <a:ln xmlns:a="http://schemas.openxmlformats.org/drawingml/2006/main" w="14288">
            <a:solidFill>
              <a:srgbClr val="17171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31E529-2F0A-49ED-9370-097C36D5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8122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7171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20C1F1-BB79-4DCE-BA4C-E1CC9482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8600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7171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E10BF9-50FB-453C-894E-F4CB6449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57400"/>
            <a:ext cx="476250" cy="476250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715"/>
            </a:solidFill>
            <a:prstDash val="solid"/>
          </a:ln>
        </p:spPr>
      </p:sp>
      <p:sp>
        <p:nvSpPr>
          <p:cNvPr id="14" name="card shadow">
            <a:extLst xmlns:a="http://schemas.openxmlformats.org/drawingml/2006/main">
              <a:ext uri="{FF2B5EF4-FFF2-40B4-BE49-F238E27FC236}">
                <a16:creationId xmlns:a16="http://schemas.microsoft.com/office/drawing/2014/main" id="{ECC66D64-9BC4-43CD-958F-34DF7C9E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85900"/>
            <a:ext cx="4286250" cy="1466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15" name="card">
            <a:extLst xmlns:a="http://schemas.openxmlformats.org/drawingml/2006/main">
              <a:ext uri="{FF2B5EF4-FFF2-40B4-BE49-F238E27FC236}">
                <a16:creationId xmlns:a16="http://schemas.microsoft.com/office/drawing/2014/main" id="{2406EE46-8E12-4CE5-9260-3D52CD68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47800"/>
            <a:ext cx="4286250" cy="1466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E9DF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73587C-DE51-4A5E-9099-437ABC68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76400"/>
            <a:ext cx="3619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A1F"/>
          </a:solidFill>
          <a:ln xmlns:a="http://schemas.openxmlformats.org/drawingml/2006/main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4ADB4C-9474-4372-9E11-0F4BA119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954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C675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C675F"/>
                </a:solidFill>
                <a:latin typeface="Aptos"/>
                <a:ea typeface="Aptos"/>
                <a:cs typeface="Aptos"/>
              </a:rPr>
              <a:t>Failure mode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594563-9A6D-45B8-9FE0-04DEC44C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717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rPr>
              <a:t>Ownership unclear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4EBF10-D903-43DC-964F-7F2C81A3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38350"/>
            <a:ext cx="419100" cy="5143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E7A417-591B-422B-9D8C-3DE5AFDE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0478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6F3EA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B50DEA-A015-442E-BF5E-C6B454D6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09800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7171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5571ED-8E2D-4DCC-8DD2-71B5996A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305050"/>
            <a:ext cx="219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7171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3365BB-0BBC-4B4B-A8DE-1D3EBE5E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098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A1F"/>
          </a:solidFill>
          <a:ln xmlns:a="http://schemas.openxmlformats.org/drawingml/2006/main" w="14288">
            <a:solidFill>
              <a:srgbClr val="171715"/>
            </a:solidFill>
            <a:prstDash val="solid"/>
          </a:ln>
        </p:spPr>
      </p:sp>
      <p:sp>
        <p:nvSpPr>
          <p:cNvPr id="24" name="card shadow">
            <a:extLst xmlns:a="http://schemas.openxmlformats.org/drawingml/2006/main">
              <a:ext uri="{FF2B5EF4-FFF2-40B4-BE49-F238E27FC236}">
                <a16:creationId xmlns:a16="http://schemas.microsoft.com/office/drawing/2014/main" id="{C2F1CE66-9917-4CD8-87D6-23A5812E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67150"/>
            <a:ext cx="4286250" cy="1466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25" name="card">
            <a:extLst xmlns:a="http://schemas.openxmlformats.org/drawingml/2006/main">
              <a:ext uri="{FF2B5EF4-FFF2-40B4-BE49-F238E27FC236}">
                <a16:creationId xmlns:a16="http://schemas.microsoft.com/office/drawing/2014/main" id="{E7C58DBD-752B-40CB-B9BA-40FBA475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29050"/>
            <a:ext cx="4286250" cy="1466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AAF9D6-F3F4-420B-95EF-E66A69C2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57650"/>
            <a:ext cx="3619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F42"/>
          </a:solidFill>
          <a:ln xmlns:a="http://schemas.openxmlformats.org/drawingml/2006/main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A702A5-CD36-4F62-BD07-2B1A36AA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767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C675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C675F"/>
                </a:solidFill>
                <a:latin typeface="Aptos"/>
                <a:ea typeface="Aptos"/>
                <a:cs typeface="Aptos"/>
              </a:rPr>
              <a:t>Recovery path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ED944E-734A-4D63-AC34-F251CDF5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529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rPr>
              <a:t>Project record remains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873D29-41FF-499F-BB4B-F74893EA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00550"/>
            <a:ext cx="457200" cy="552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CFF99"/>
          </a:solidFill>
          <a:ln xmlns:a="http://schemas.openxmlformats.org/drawingml/2006/main" w="14288">
            <a:solidFill>
              <a:srgbClr val="17171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2BF44D-A47F-492C-AF06-38D849FA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4100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6F3EA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012200-F8E5-4038-A85A-2DD6CE13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7200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7171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3ECD22-F879-4690-ABCD-B78E9A50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67250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7171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AFC97D-0F44-469B-8F48-B683F446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95850"/>
            <a:ext cx="9525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17171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E5C92A-5545-4E17-883F-3C718B3E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762500"/>
            <a:ext cx="209550" cy="228600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171715"/>
            </a:solidFill>
            <a:prstDash val="solid"/>
          </a:ln>
        </p:spPr>
      </p:sp>
      <p:sp>
        <p:nvSpPr>
          <p:cNvPr id="35" name="card shadow">
            <a:extLst xmlns:a="http://schemas.openxmlformats.org/drawingml/2006/main">
              <a:ext uri="{FF2B5EF4-FFF2-40B4-BE49-F238E27FC236}">
                <a16:creationId xmlns:a16="http://schemas.microsoft.com/office/drawing/2014/main" id="{03CDE215-6411-4304-AF4C-86AFED68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67150"/>
            <a:ext cx="4286250" cy="1466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36" name="card">
            <a:extLst xmlns:a="http://schemas.openxmlformats.org/drawingml/2006/main">
              <a:ext uri="{FF2B5EF4-FFF2-40B4-BE49-F238E27FC236}">
                <a16:creationId xmlns:a16="http://schemas.microsoft.com/office/drawing/2014/main" id="{E3F9EC1D-5695-47B2-B8E4-99F62413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29050"/>
            <a:ext cx="4286250" cy="1466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A9734B-D02D-4E23-949D-5A7E25F3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57650"/>
            <a:ext cx="3619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A8FF"/>
          </a:solidFill>
          <a:ln xmlns:a="http://schemas.openxmlformats.org/drawingml/2006/main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3DA893-1B74-47ED-A93C-2479D882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767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C675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C675F"/>
                </a:solidFill>
                <a:latin typeface="Aptos"/>
                <a:ea typeface="Aptos"/>
                <a:cs typeface="Aptos"/>
              </a:rPr>
              <a:t>Recovery path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E669C0E-A02F-4D45-8851-16C7F9A0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529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rPr>
              <a:t>Mentor signal</a:t>
            </a:r>
          </a:p>
          <a:p xmlns:a="http://schemas.openxmlformats.org/drawingml/2006/main">
            <a:pPr algn="l">
              <a:defRPr sz="1725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rPr>
              <a:t>compounds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B03CEC-E1B0-46E7-BD2D-903C8B09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91025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7F9F8A-832E-4406-B51A-CC3999B1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48200"/>
            <a:ext cx="97155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BE7DE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7B25F0-405C-4211-A3FE-8A6C5923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695825"/>
            <a:ext cx="699516" cy="1333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64A8FF"/>
          </a:solidFill>
          <a:ln xmlns:a="http://schemas.openxmlformats.org/drawingml/2006/main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A905FC-9034-4EA5-8819-FC205934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76750"/>
            <a:ext cx="342900" cy="342900"/>
          </a:xfrm>
          <a:prstGeom xmlns:a="http://schemas.openxmlformats.org/drawingml/2006/main" prst="circularArrow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A8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A87C70F-3516-4480-AB01-F90D13C2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90850"/>
            <a:ext cx="0" cy="790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A79A"/>
            </a:solidFill>
            <a:prstDash val="dot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DF8B86B-1C0F-426D-8E85-2EE24197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90850"/>
            <a:ext cx="0" cy="790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A79A"/>
            </a:solidFill>
            <a:prstDash val="dot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5FA4285-C668-44D7-84B7-0733D5EC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19450"/>
            <a:ext cx="342900" cy="342900"/>
          </a:xfrm>
          <a:prstGeom xmlns:a="http://schemas.openxmlformats.org/drawingml/2006/main" prst="circularArrow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47A1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1FA86E6-53AA-4CBC-9DA1-73866CA6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19450"/>
            <a:ext cx="342900" cy="342900"/>
          </a:xfrm>
          <a:prstGeom xmlns:a="http://schemas.openxmlformats.org/drawingml/2006/main" prst="circularArrow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A8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2CC3E12-2C8A-422A-91A1-91D18ABA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194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C675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6C675F"/>
                </a:solidFill>
                <a:latin typeface="Aptos"/>
                <a:ea typeface="Aptos"/>
                <a:cs typeface="Aptos"/>
              </a:rPr>
              <a:t>Post-hackathon drop-off becomes a recoverable state.</a:t>
            </a:r>
          </a:p>
        </p:txBody>
      </p:sp>
    </p:spTree>
    <p:extLst>
      <p:ext uri="{BB962C8B-B14F-4D97-AF65-F5344CB8AC3E}">
        <p14:creationId xmlns:p14="http://schemas.microsoft.com/office/powerpoint/2010/main" val="4563433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card shadow">
            <a:extLst xmlns:a="http://schemas.openxmlformats.org/drawingml/2006/main">
              <a:ext uri="{FF2B5EF4-FFF2-40B4-BE49-F238E27FC236}">
                <a16:creationId xmlns:a16="http://schemas.microsoft.com/office/drawing/2014/main" id="{6CAF9D41-388C-4CAC-AB0A-818B1DF3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11315700" cy="6134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lide card">
            <a:extLst xmlns:a="http://schemas.openxmlformats.org/drawingml/2006/main">
              <a:ext uri="{FF2B5EF4-FFF2-40B4-BE49-F238E27FC236}">
                <a16:creationId xmlns:a16="http://schemas.microsoft.com/office/drawing/2014/main" id="{E749560D-7942-449C-BE79-33A9BAA2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11315700" cy="6134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3" name="orange title accent">
            <a:extLst xmlns:a="http://schemas.openxmlformats.org/drawingml/2006/main">
              <a:ext uri="{FF2B5EF4-FFF2-40B4-BE49-F238E27FC236}">
                <a16:creationId xmlns:a16="http://schemas.microsoft.com/office/drawing/2014/main" id="{11C5A69E-137C-4FBC-A972-E0E7B2DC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4850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A1F"/>
          </a:solidFill>
          <a:ln xmlns:a="http://schemas.openxmlformats.org/drawingml/2006/main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317014-A419-4907-A5C8-727D0E2E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286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rPr>
              <a:t>Business and sustainability</a:t>
            </a:r>
          </a:p>
        </p:txBody>
      </p:sp>
      <p:sp>
        <p:nvSpPr>
          <p:cNvPr id="5" name="Campus licenses shadow">
            <a:extLst xmlns:a="http://schemas.openxmlformats.org/drawingml/2006/main">
              <a:ext uri="{FF2B5EF4-FFF2-40B4-BE49-F238E27FC236}">
                <a16:creationId xmlns:a16="http://schemas.microsoft.com/office/drawing/2014/main" id="{48B6B21D-6A67-49FB-BE2E-6EF3AE75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85900"/>
            <a:ext cx="2990850" cy="1428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Campus licenses">
            <a:extLst xmlns:a="http://schemas.openxmlformats.org/drawingml/2006/main">
              <a:ext uri="{FF2B5EF4-FFF2-40B4-BE49-F238E27FC236}">
                <a16:creationId xmlns:a16="http://schemas.microsoft.com/office/drawing/2014/main" id="{E3A9C213-C361-47AA-8F50-90AA48E7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47800"/>
            <a:ext cx="2990850" cy="1428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764727-7757-4501-BBA1-BDE43BD1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19250"/>
            <a:ext cx="266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F42"/>
          </a:solidFill>
          <a:ln xmlns:a="http://schemas.openxmlformats.org/drawingml/2006/main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A7464-5B78-4453-9B9A-02BDAAA5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335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rPr>
              <a:t>Campus licenses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FAA21D-9D85-483A-8028-764CE16D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33600"/>
            <a:ext cx="260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C675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C675F"/>
                </a:solidFill>
                <a:latin typeface="Aptos"/>
                <a:ea typeface="Aptos"/>
                <a:cs typeface="Aptos"/>
              </a:rPr>
              <a:t>Campus-first rollout for verified students and project records.</a:t>
            </a:r>
          </a:p>
        </p:txBody>
      </p:sp>
      <p:sp>
        <p:nvSpPr>
          <p:cNvPr id="10" name="Sponsored challenges shadow">
            <a:extLst xmlns:a="http://schemas.openxmlformats.org/drawingml/2006/main">
              <a:ext uri="{FF2B5EF4-FFF2-40B4-BE49-F238E27FC236}">
                <a16:creationId xmlns:a16="http://schemas.microsoft.com/office/drawing/2014/main" id="{8DE1B709-57A6-4B15-B19E-8FFCF082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85900"/>
            <a:ext cx="2990850" cy="1428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11" name="Sponsored challenges">
            <a:extLst xmlns:a="http://schemas.openxmlformats.org/drawingml/2006/main">
              <a:ext uri="{FF2B5EF4-FFF2-40B4-BE49-F238E27FC236}">
                <a16:creationId xmlns:a16="http://schemas.microsoft.com/office/drawing/2014/main" id="{B0010B5F-D3C2-4006-96A7-E855D7B7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447800"/>
            <a:ext cx="2990850" cy="1428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B8F082-4B7C-4F32-B7CC-6109DF74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619250"/>
            <a:ext cx="266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A1F"/>
          </a:solidFill>
          <a:ln xmlns:a="http://schemas.openxmlformats.org/drawingml/2006/main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0C6A66-36D3-4F98-94B0-560C201B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7335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rPr>
              <a:t>Sponsored challenges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9CA7AB-70B5-42DD-B5C9-CEFA18A0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33600"/>
            <a:ext cx="260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C675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C675F"/>
                </a:solidFill>
                <a:latin typeface="Aptos"/>
                <a:ea typeface="Aptos"/>
                <a:cs typeface="Aptos"/>
              </a:rPr>
              <a:t>Sponsorships, grants, pilots, and partnerships around continuation.</a:t>
            </a:r>
          </a:p>
        </p:txBody>
      </p:sp>
      <p:sp>
        <p:nvSpPr>
          <p:cNvPr id="15" name="Premium mentorship / backer access shadow">
            <a:extLst xmlns:a="http://schemas.openxmlformats.org/drawingml/2006/main">
              <a:ext uri="{FF2B5EF4-FFF2-40B4-BE49-F238E27FC236}">
                <a16:creationId xmlns:a16="http://schemas.microsoft.com/office/drawing/2014/main" id="{CB5D24A1-0A8C-4507-A7B5-41D42188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485900"/>
            <a:ext cx="2990850" cy="1428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16" name="Premium mentorship / backer access">
            <a:extLst xmlns:a="http://schemas.openxmlformats.org/drawingml/2006/main">
              <a:ext uri="{FF2B5EF4-FFF2-40B4-BE49-F238E27FC236}">
                <a16:creationId xmlns:a16="http://schemas.microsoft.com/office/drawing/2014/main" id="{804456FB-2EE0-4494-B102-9D15804F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447800"/>
            <a:ext cx="2990850" cy="1428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56CE00-B09D-4829-8215-B17A55AB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19250"/>
            <a:ext cx="266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A8FF"/>
          </a:solidFill>
          <a:ln xmlns:a="http://schemas.openxmlformats.org/drawingml/2006/main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3DD64C-FC2E-488C-9AE6-A14A1239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33550"/>
            <a:ext cx="2609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rPr>
              <a:t>Premium mentorship / backer access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8FA759-C65E-4FA4-8EA7-617A5C4A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24100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C675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C675F"/>
                </a:solidFill>
                <a:latin typeface="Aptos"/>
                <a:ea typeface="Aptos"/>
                <a:cs typeface="Aptos"/>
              </a:rPr>
              <a:t>Curated access for trusted early project review.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812F58-9102-4DA1-8680-8FD4A871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81400"/>
            <a:ext cx="10020300" cy="1485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3EA"/>
          </a:solidFill>
          <a:ln xmlns:a="http://schemas.openxmlformats.org/drawingml/2006/main" w="14288">
            <a:solidFill>
              <a:srgbClr val="17171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5EEAC0-518D-4843-B797-DF5A679B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52875"/>
            <a:ext cx="1333500" cy="533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FFF42"/>
          </a:solidFill>
          <a:ln xmlns:a="http://schemas.openxmlformats.org/drawingml/2006/main" w="15240">
            <a:solidFill>
              <a:srgbClr val="17171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5DAD6A-15E3-4367-B78A-CB2E650D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1148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10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1110F"/>
                </a:solidFill>
                <a:latin typeface="Aptos"/>
                <a:ea typeface="Aptos"/>
                <a:cs typeface="Aptos"/>
              </a:rPr>
              <a:t>Universities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C9C96A-D885-4C7B-B37D-28A7AF0A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105275"/>
            <a:ext cx="5524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7171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B3C8AB-FA78-42D4-8639-A994D5D7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52875"/>
            <a:ext cx="1333500" cy="533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64A8FF"/>
          </a:solidFill>
          <a:ln xmlns:a="http://schemas.openxmlformats.org/drawingml/2006/main" w="15240">
            <a:solidFill>
              <a:srgbClr val="17171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7D7204-205E-45B7-BD00-3998115F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148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10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1110F"/>
                </a:solidFill>
                <a:latin typeface="Aptos"/>
                <a:ea typeface="Aptos"/>
                <a:cs typeface="Aptos"/>
              </a:rPr>
              <a:t>Mentors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42D2C2-2C0A-41CD-8814-2A492D8B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105275"/>
            <a:ext cx="5524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7171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2F5291-8ADE-4AA0-AEDE-E5EDBED2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952875"/>
            <a:ext cx="1333500" cy="533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7A1F"/>
          </a:solidFill>
          <a:ln xmlns:a="http://schemas.openxmlformats.org/drawingml/2006/main" w="15240">
            <a:solidFill>
              <a:srgbClr val="17171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278AEF-10D6-40FD-ACE1-C25253F1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1148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10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1110F"/>
                </a:solidFill>
                <a:latin typeface="Aptos"/>
                <a:ea typeface="Aptos"/>
                <a:cs typeface="Aptos"/>
              </a:rPr>
              <a:t>Backers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735ACA-ACA1-444F-B6A1-E4326065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05275"/>
            <a:ext cx="5524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FFF42"/>
          </a:solidFill>
          <a:ln xmlns:a="http://schemas.openxmlformats.org/drawingml/2006/main" w="12383">
            <a:solidFill>
              <a:srgbClr val="17171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C744D7-58A8-4553-8483-B7E3FFD1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52875"/>
            <a:ext cx="1333500" cy="533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100E"/>
          </a:solidFill>
          <a:ln xmlns:a="http://schemas.openxmlformats.org/drawingml/2006/main" w="15240">
            <a:solidFill>
              <a:srgbClr val="17171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8D1735-AB90-4E19-9B22-5B8A70FC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148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Platform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9A3096-39E1-4BEA-B6DE-31897D58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05275"/>
            <a:ext cx="5524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7171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0EDE31-24CB-4DAB-95E9-F4A1076E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52875"/>
            <a:ext cx="1333500" cy="533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EEFD8"/>
          </a:solidFill>
          <a:ln xmlns:a="http://schemas.openxmlformats.org/drawingml/2006/main" w="15240">
            <a:solidFill>
              <a:srgbClr val="17171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B42958-BD26-4185-85E4-06149809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1148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10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1110F"/>
                </a:solidFill>
                <a:latin typeface="Aptos"/>
                <a:ea typeface="Aptos"/>
                <a:cs typeface="Aptos"/>
              </a:rPr>
              <a:t>Students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DEAB23-CF98-4F2F-AC11-2DA57D1B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00475"/>
            <a:ext cx="14859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F42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A1325A-2906-43EB-A420-CC52A18E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48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rPr>
              <a:t>Sustainability comes from solving continuation for students and visibility for institutions.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7B7177-D71F-431C-BE9D-AC43691D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781675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C675F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C675F"/>
                </a:solidFill>
                <a:latin typeface="Aptos"/>
                <a:ea typeface="Aptos"/>
                <a:cs typeface="Aptos"/>
              </a:rPr>
              <a:t>Curated trust-and-continuation first; expand into milestone-based backer support.</a:t>
            </a:r>
          </a:p>
        </p:txBody>
      </p:sp>
    </p:spTree>
    <p:extLst>
      <p:ext uri="{BB962C8B-B14F-4D97-AF65-F5344CB8AC3E}">
        <p14:creationId xmlns:p14="http://schemas.microsoft.com/office/powerpoint/2010/main" val="17335184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card shadow">
            <a:extLst xmlns:a="http://schemas.openxmlformats.org/drawingml/2006/main">
              <a:ext uri="{FF2B5EF4-FFF2-40B4-BE49-F238E27FC236}">
                <a16:creationId xmlns:a16="http://schemas.microsoft.com/office/drawing/2014/main" id="{BEBD4D10-DD2A-493F-A0F9-3700BC97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11315700" cy="6134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lide card">
            <a:extLst xmlns:a="http://schemas.openxmlformats.org/drawingml/2006/main">
              <a:ext uri="{FF2B5EF4-FFF2-40B4-BE49-F238E27FC236}">
                <a16:creationId xmlns:a16="http://schemas.microsoft.com/office/drawing/2014/main" id="{7407673A-DB2B-40A2-B9AA-056534D4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11315700" cy="6134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3" name="orange title accent">
            <a:extLst xmlns:a="http://schemas.openxmlformats.org/drawingml/2006/main">
              <a:ext uri="{FF2B5EF4-FFF2-40B4-BE49-F238E27FC236}">
                <a16:creationId xmlns:a16="http://schemas.microsoft.com/office/drawing/2014/main" id="{52809F50-5178-40DA-BA7C-3634F67C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4850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A1F"/>
          </a:solidFill>
          <a:ln xmlns:a="http://schemas.openxmlformats.org/drawingml/2006/main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71F5B7-B0C9-4970-9B57-80A72DD8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286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rPr>
              <a:t>Sustainable growth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0C95C5-02DA-44CD-BB34-12293C12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7810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C675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C675F"/>
                </a:solidFill>
                <a:latin typeface="Aptos"/>
                <a:ea typeface="Aptos"/>
                <a:cs typeface="Aptos"/>
              </a:rPr>
              <a:t>Launch signal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55B8A4-1071-4DC7-B04F-E043DCBA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009650"/>
            <a:ext cx="2247900" cy="304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CFF99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536422-4B7C-49F0-BC2F-A90D854D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038225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10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1110F"/>
                </a:solidFill>
                <a:latin typeface="Aptos"/>
                <a:ea typeface="Aptos"/>
                <a:cs typeface="Aptos"/>
              </a:rPr>
              <a:t>DVF verdict: strong opportunity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5C2AFA-2D78-4680-B5FB-699FA98E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24000"/>
            <a:ext cx="9639300" cy="22669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3EA"/>
          </a:solidFill>
          <a:ln xmlns:a="http://schemas.openxmlformats.org/drawingml/2006/main" w="14288">
            <a:solidFill>
              <a:srgbClr val="17171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8FD176-6BA6-4140-BAE4-7DCA8110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933575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0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1110F"/>
                </a:solidFill>
                <a:latin typeface="Aptos"/>
                <a:ea typeface="Aptos"/>
                <a:cs typeface="Aptos"/>
              </a:rPr>
              <a:t>Protected ideas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50E95E-BED9-4E16-9D97-1B957767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190750"/>
            <a:ext cx="800100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BE7DE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5A91EB-CCB7-4F1A-9B3E-59DB0ED9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238375"/>
            <a:ext cx="4640580" cy="1333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7A1F"/>
          </a:solidFill>
          <a:ln xmlns:a="http://schemas.openxmlformats.org/drawingml/2006/main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22252C-34C3-4332-A0B6-5539B2D4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00325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0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1110F"/>
                </a:solidFill>
                <a:latin typeface="Aptos"/>
                <a:ea typeface="Aptos"/>
                <a:cs typeface="Aptos"/>
              </a:rPr>
              <a:t>Mentor validation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931DA2-BFE5-4A85-B928-2BC68CAF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57500"/>
            <a:ext cx="800100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BE7DE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92712A-95F5-401A-9A74-D8C98381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905125"/>
            <a:ext cx="5600700" cy="1333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64A8FF"/>
          </a:solidFill>
          <a:ln xmlns:a="http://schemas.openxmlformats.org/drawingml/2006/main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39C24C-B5A5-4B2D-B9BE-AD5EDA70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267075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0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1110F"/>
                </a:solidFill>
                <a:latin typeface="Aptos"/>
                <a:ea typeface="Aptos"/>
                <a:cs typeface="Aptos"/>
              </a:rPr>
              <a:t>Milestone funding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496A1C-D203-4091-B17A-3CB020CE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524250"/>
            <a:ext cx="800100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BE7DE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DD3325-DC22-4083-A29E-402C30A1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571875"/>
            <a:ext cx="3840480" cy="1333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FFF42"/>
          </a:solidFill>
          <a:ln xmlns:a="http://schemas.openxmlformats.org/drawingml/2006/main">
            <a:noFill/>
            <a:prstDash val="solid"/>
          </a:ln>
        </p:spPr>
      </p:sp>
      <p:sp>
        <p:nvSpPr>
          <p:cNvPr id="18" name="More trusted records shadow">
            <a:extLst xmlns:a="http://schemas.openxmlformats.org/drawingml/2006/main">
              <a:ext uri="{FF2B5EF4-FFF2-40B4-BE49-F238E27FC236}">
                <a16:creationId xmlns:a16="http://schemas.microsoft.com/office/drawing/2014/main" id="{EDCB65AC-21E1-4FB6-AA1C-6E0B4F65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29125"/>
            <a:ext cx="2743200" cy="1200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19" name="More trusted records">
            <a:extLst xmlns:a="http://schemas.openxmlformats.org/drawingml/2006/main">
              <a:ext uri="{FF2B5EF4-FFF2-40B4-BE49-F238E27FC236}">
                <a16:creationId xmlns:a16="http://schemas.microsoft.com/office/drawing/2014/main" id="{20B16084-8868-4A4F-BC92-3A124C39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00550"/>
            <a:ext cx="2743200" cy="1200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FDCDA9-9F09-4DBF-A927-F4A00D59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72000"/>
            <a:ext cx="266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A1F"/>
          </a:solidFill>
          <a:ln xmlns:a="http://schemas.openxmlformats.org/drawingml/2006/main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DB63E4-8F64-4C95-800C-ED7B59A6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863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rPr>
              <a:t>More trusted records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8EE32C-F728-4265-9EC5-E18924FD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86350"/>
            <a:ext cx="236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6C675F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C675F"/>
                </a:solidFill>
                <a:latin typeface="Aptos"/>
                <a:ea typeface="Aptos"/>
                <a:cs typeface="Aptos"/>
              </a:rPr>
              <a:t>Version history and proof of creation become reusable evidence.</a:t>
            </a:r>
          </a:p>
        </p:txBody>
      </p:sp>
      <p:sp>
        <p:nvSpPr>
          <p:cNvPr id="23" name="More useful mentor signal shadow">
            <a:extLst xmlns:a="http://schemas.openxmlformats.org/drawingml/2006/main">
              <a:ext uri="{FF2B5EF4-FFF2-40B4-BE49-F238E27FC236}">
                <a16:creationId xmlns:a16="http://schemas.microsoft.com/office/drawing/2014/main" id="{3A0A58F6-C6DE-4137-B1F0-C7E28B92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429125"/>
            <a:ext cx="2743200" cy="1200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24" name="More useful mentor signal">
            <a:extLst xmlns:a="http://schemas.openxmlformats.org/drawingml/2006/main">
              <a:ext uri="{FF2B5EF4-FFF2-40B4-BE49-F238E27FC236}">
                <a16:creationId xmlns:a16="http://schemas.microsoft.com/office/drawing/2014/main" id="{3D0BDCD9-3F60-4714-B10D-C90E52DF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00550"/>
            <a:ext cx="2743200" cy="1200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2D5BC9-C009-4ABC-83A4-BBED0072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72000"/>
            <a:ext cx="266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A8FF"/>
          </a:solidFill>
          <a:ln xmlns:a="http://schemas.openxmlformats.org/drawingml/2006/main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C6540D-3C5D-4600-88D5-D1832733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863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rPr>
              <a:t>More useful mentor signal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2CC3AB-848E-4E45-8F80-A32E3E3A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086350"/>
            <a:ext cx="236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6C675F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C675F"/>
                </a:solidFill>
                <a:latin typeface="Aptos"/>
                <a:ea typeface="Aptos"/>
                <a:cs typeface="Aptos"/>
              </a:rPr>
              <a:t>Structured feedback helps projects improve and qualify.</a:t>
            </a:r>
          </a:p>
        </p:txBody>
      </p:sp>
      <p:sp>
        <p:nvSpPr>
          <p:cNvPr id="28" name="More investable projects shadow">
            <a:extLst xmlns:a="http://schemas.openxmlformats.org/drawingml/2006/main">
              <a:ext uri="{FF2B5EF4-FFF2-40B4-BE49-F238E27FC236}">
                <a16:creationId xmlns:a16="http://schemas.microsoft.com/office/drawing/2014/main" id="{7976E547-4D6C-40A6-9FDF-968F8AF9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429125"/>
            <a:ext cx="2743200" cy="1200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29" name="More investable projects">
            <a:extLst xmlns:a="http://schemas.openxmlformats.org/drawingml/2006/main">
              <a:ext uri="{FF2B5EF4-FFF2-40B4-BE49-F238E27FC236}">
                <a16:creationId xmlns:a16="http://schemas.microsoft.com/office/drawing/2014/main" id="{63B40C73-04C4-4220-9EBD-6DD6AAD7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00550"/>
            <a:ext cx="2743200" cy="1200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D683CF-AFCD-4BC8-A5DB-30449F8D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72000"/>
            <a:ext cx="266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F42"/>
          </a:solidFill>
          <a:ln xmlns:a="http://schemas.openxmlformats.org/drawingml/2006/main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B9C1EF-2927-42B5-9529-7D7FCAC6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863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rPr>
              <a:t>More investable projects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0C6FFB-C513-48B4-B6BB-A0FB4828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86350"/>
            <a:ext cx="236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6C675F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C675F"/>
                </a:solidFill>
                <a:latin typeface="Aptos"/>
                <a:ea typeface="Aptos"/>
                <a:cs typeface="Aptos"/>
              </a:rPr>
              <a:t>Milestone readiness creates a clearer support path.</a:t>
            </a:r>
          </a:p>
        </p:txBody>
      </p:sp>
    </p:spTree>
    <p:extLst>
      <p:ext uri="{BB962C8B-B14F-4D97-AF65-F5344CB8AC3E}">
        <p14:creationId xmlns:p14="http://schemas.microsoft.com/office/powerpoint/2010/main" val="12487071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ark slide card shadow">
            <a:extLst xmlns:a="http://schemas.openxmlformats.org/drawingml/2006/main">
              <a:ext uri="{FF2B5EF4-FFF2-40B4-BE49-F238E27FC236}">
                <a16:creationId xmlns:a16="http://schemas.microsoft.com/office/drawing/2014/main" id="{682BB8FA-988E-49A0-8F22-E85BD3A0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11315700" cy="6134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4D0C6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dark slide card">
            <a:extLst xmlns:a="http://schemas.openxmlformats.org/drawingml/2006/main">
              <a:ext uri="{FF2B5EF4-FFF2-40B4-BE49-F238E27FC236}">
                <a16:creationId xmlns:a16="http://schemas.microsoft.com/office/drawing/2014/main" id="{886BB0E2-FE2C-41F6-96B5-7BE87C06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11315700" cy="6134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100E"/>
          </a:solidFill>
          <a:ln xmlns:a="http://schemas.openxmlformats.org/drawingml/2006/main" w="9525">
            <a:solidFill>
              <a:srgbClr val="10100E"/>
            </a:solidFill>
            <a:prstDash val="solid"/>
          </a:ln>
        </p:spPr>
      </p:sp>
      <p:sp>
        <p:nvSpPr>
          <p:cNvPr id="3" name="orange title accent">
            <a:extLst xmlns:a="http://schemas.openxmlformats.org/drawingml/2006/main">
              <a:ext uri="{FF2B5EF4-FFF2-40B4-BE49-F238E27FC236}">
                <a16:creationId xmlns:a16="http://schemas.microsoft.com/office/drawing/2014/main" id="{B3C54A24-260D-43AA-9E3C-53A3FDEC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4850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A1F"/>
          </a:solidFill>
          <a:ln xmlns:a="http://schemas.openxmlformats.org/drawingml/2006/main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A52537-474D-4684-B442-3FF77C0B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286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Each chain compounds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042DCE-6451-4037-A0DC-EB976330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733550"/>
            <a:ext cx="3048000" cy="3048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AE8DD"/>
            </a:solidFill>
            <a:prstDash val="dot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3DAF98-D575-476C-A525-A12AD4DA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71675"/>
            <a:ext cx="1285875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AD8CF"/>
            </a:solidFill>
            <a:prstDash val="dot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702BB1-7146-497D-9C4D-8CBF8CAE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6859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F4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1FADE7-8CE2-410C-A442-825DE60C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71725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Proof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D81D4B-E86A-45DD-85B3-487B46A8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57550"/>
            <a:ext cx="1285875" cy="1285875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AD8CF"/>
            </a:solidFill>
            <a:prstDash val="dot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65C53E-0F73-4930-B893-C28CDE2F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9718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42646B-6876-42B2-82F8-D1ECED40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65760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159D40-12FC-49F4-9B51-3D5F886D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257550"/>
            <a:ext cx="1285875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AD8CF"/>
            </a:solidFill>
            <a:prstDash val="dot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FDDE56-D95E-41AC-9240-F388AF80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25767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A1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96DD8A-E71A-4D89-AE5D-34954EB4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943475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Access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0D457D-736B-4DF0-B34C-779C77F8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1971675"/>
            <a:ext cx="1285875" cy="1285875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AD8CF"/>
            </a:solidFill>
            <a:prstDash val="dot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68BC02-CBAD-4F37-A887-40874477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9718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EFD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42C25E-BEA9-4021-989F-76C41C13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65760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Funding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9321CC-CE93-4B87-8187-6A0CF434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2895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Chain of continuation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2288DA-55FA-4176-B187-56DE17F4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14500"/>
            <a:ext cx="4000500" cy="495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1D19"/>
          </a:solidFill>
          <a:ln xmlns:a="http://schemas.openxmlformats.org/drawingml/2006/main" w="11430">
            <a:solidFill>
              <a:srgbClr val="EAE8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C78A2F-F9DE-4A16-B513-C938B89F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76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F42"/>
          </a:solidFill>
          <a:ln xmlns:a="http://schemas.openxmlformats.org/drawingml/2006/main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4E0D28-9948-4CCD-AC0E-C8212C4C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09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Proof improves validation.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52079C-64ED-4FED-8BE4-CC771821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57450"/>
            <a:ext cx="4000500" cy="495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1D19"/>
          </a:solidFill>
          <a:ln xmlns:a="http://schemas.openxmlformats.org/drawingml/2006/main" w="11430">
            <a:solidFill>
              <a:srgbClr val="EAE8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8CAB2D-FCC7-4460-99CD-EBC88C8E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19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A8FF"/>
          </a:solidFill>
          <a:ln xmlns:a="http://schemas.openxmlformats.org/drawingml/2006/main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9D1BBC-87D0-4156-B2A1-03051FAE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527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Validation improves access.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35B5A1-1DA4-40BB-9EBE-4F7DA848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00400"/>
            <a:ext cx="4000500" cy="495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1D19"/>
          </a:solidFill>
          <a:ln xmlns:a="http://schemas.openxmlformats.org/drawingml/2006/main" w="11430">
            <a:solidFill>
              <a:srgbClr val="EAE8D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38824F-BD22-4CE6-995E-E749E5A2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623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A1F"/>
          </a:solidFill>
          <a:ln xmlns:a="http://schemas.openxmlformats.org/drawingml/2006/main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26DE3F-84EE-432F-A4B7-CCE2D35B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956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Access improves funding.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CF525C-3928-4AFF-BFD8-F4CFC10E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000500" cy="495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1D19"/>
          </a:solidFill>
          <a:ln xmlns:a="http://schemas.openxmlformats.org/drawingml/2006/main" w="11430">
            <a:solidFill>
              <a:srgbClr val="EAE8D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607125-4E23-4184-A94D-17D871BA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05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EFD8"/>
          </a:solidFill>
          <a:ln xmlns:a="http://schemas.openxmlformats.org/drawingml/2006/main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B41ECE-1710-4C3E-BE16-B4657298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38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Funding improves continuation.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9774E9-D005-40A2-B82D-0FE70F19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543550"/>
            <a:ext cx="906780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FFF42"/>
          </a:solidFill>
          <a:ln xmlns:a="http://schemas.openxmlformats.org/drawingml/2006/main" w="15240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327972-4594-4D4D-9A97-D210E4D7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638800"/>
            <a:ext cx="868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rPr>
              <a:t>Continuation becomes the network effect.</a:t>
            </a:r>
          </a:p>
        </p:txBody>
      </p:sp>
    </p:spTree>
    <p:extLst>
      <p:ext uri="{BB962C8B-B14F-4D97-AF65-F5344CB8AC3E}">
        <p14:creationId xmlns:p14="http://schemas.microsoft.com/office/powerpoint/2010/main" val="3517986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2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card shadow">
            <a:extLst xmlns:a="http://schemas.openxmlformats.org/drawingml/2006/main">
              <a:ext uri="{FF2B5EF4-FFF2-40B4-BE49-F238E27FC236}">
                <a16:creationId xmlns:a16="http://schemas.microsoft.com/office/drawing/2014/main" id="{FE69DB8C-EE3E-4583-89E8-331679D2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11315700" cy="6134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lide card">
            <a:extLst xmlns:a="http://schemas.openxmlformats.org/drawingml/2006/main">
              <a:ext uri="{FF2B5EF4-FFF2-40B4-BE49-F238E27FC236}">
                <a16:creationId xmlns:a16="http://schemas.microsoft.com/office/drawing/2014/main" id="{64083496-80ED-473D-B05F-176DAC17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11315700" cy="6134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3" name="orange title accent">
            <a:extLst xmlns:a="http://schemas.openxmlformats.org/drawingml/2006/main">
              <a:ext uri="{FF2B5EF4-FFF2-40B4-BE49-F238E27FC236}">
                <a16:creationId xmlns:a16="http://schemas.microsoft.com/office/drawing/2014/main" id="{C029ED71-DE78-4527-A288-2B392548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4850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A1F"/>
          </a:solidFill>
          <a:ln xmlns:a="http://schemas.openxmlformats.org/drawingml/2006/main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97E52F-8652-4FF5-8F7D-26D5FD47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286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rPr>
              <a:t>Before and after</a:t>
            </a:r>
          </a:p>
        </p:txBody>
      </p:sp>
      <p:sp>
        <p:nvSpPr>
          <p:cNvPr id="5" name="card shadow">
            <a:extLst xmlns:a="http://schemas.openxmlformats.org/drawingml/2006/main">
              <a:ext uri="{FF2B5EF4-FFF2-40B4-BE49-F238E27FC236}">
                <a16:creationId xmlns:a16="http://schemas.microsoft.com/office/drawing/2014/main" id="{409C7ABF-0512-467F-B72B-F27AC3D0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495425"/>
            <a:ext cx="4686300" cy="3886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card">
            <a:extLst xmlns:a="http://schemas.openxmlformats.org/drawingml/2006/main">
              <a:ext uri="{FF2B5EF4-FFF2-40B4-BE49-F238E27FC236}">
                <a16:creationId xmlns:a16="http://schemas.microsoft.com/office/drawing/2014/main" id="{032CBCF9-BF38-4EB0-B7AD-1B36779C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447800"/>
            <a:ext cx="4686300" cy="3886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3EA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7" name="card shadow">
            <a:extLst xmlns:a="http://schemas.openxmlformats.org/drawingml/2006/main">
              <a:ext uri="{FF2B5EF4-FFF2-40B4-BE49-F238E27FC236}">
                <a16:creationId xmlns:a16="http://schemas.microsoft.com/office/drawing/2014/main" id="{8BDD8D05-6289-4009-91CB-E4785CEF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495425"/>
            <a:ext cx="4686300" cy="3886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8" name="card">
            <a:extLst xmlns:a="http://schemas.openxmlformats.org/drawingml/2006/main">
              <a:ext uri="{FF2B5EF4-FFF2-40B4-BE49-F238E27FC236}">
                <a16:creationId xmlns:a16="http://schemas.microsoft.com/office/drawing/2014/main" id="{BC33E637-1C33-48F8-B47F-3A33FF41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47800"/>
            <a:ext cx="4686300" cy="3886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100E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D85838-523A-4E44-B0ED-1DECFA1B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526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 i="0">
                <a:solidFill>
                  <a:srgbClr val="11110F"/>
                </a:solidFill>
                <a:latin typeface="Aptos Display"/>
                <a:ea typeface="Aptos Display"/>
                <a:cs typeface="Aptos Display"/>
              </a:rPr>
              <a:t>Before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D7D09A-E98D-4417-9B54-BDE7A1FE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7526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After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F0D78B-6C92-49D2-AB09-7818E8A5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14500"/>
            <a:ext cx="1352550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FFF42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7DFC64-D4F7-48C6-AF37-543C2102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790700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1110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1110F"/>
                </a:solidFill>
                <a:latin typeface="Aptos"/>
                <a:ea typeface="Aptos"/>
                <a:cs typeface="Aptos"/>
              </a:rPr>
              <a:t>Protected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3D3E8E-69A1-48DB-88FC-5E96693B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050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A1F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FB2EC2-2ACB-464F-92C3-69456E51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384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0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1110F"/>
                </a:solidFill>
                <a:latin typeface="Aptos"/>
                <a:ea typeface="Aptos"/>
                <a:cs typeface="Aptos"/>
              </a:rPr>
              <a:t>Scattered documents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393E9C-99C9-49F6-A7E4-A8669B91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194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A1F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E02AB1-379B-48B6-8573-BE7E1AFD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527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0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1110F"/>
                </a:solidFill>
                <a:latin typeface="Aptos"/>
                <a:ea typeface="Aptos"/>
                <a:cs typeface="Aptos"/>
              </a:rPr>
              <a:t>Unclear ownership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AFDF2B-FA12-4EE9-B99E-1BE0747F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337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A1F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4F9A71-4D7C-40D9-A916-F6B5119F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671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0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1110F"/>
                </a:solidFill>
                <a:latin typeface="Aptos"/>
                <a:ea typeface="Aptos"/>
                <a:cs typeface="Aptos"/>
              </a:rPr>
              <a:t>No permission layer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1AE179-FB38-4D1A-86F3-0C35F56B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481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A1F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1B9090-1EE7-44F3-A0A9-53F1D9EB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814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0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1110F"/>
                </a:solidFill>
                <a:latin typeface="Aptos"/>
                <a:ea typeface="Aptos"/>
                <a:cs typeface="Aptos"/>
              </a:rPr>
              <a:t>Weak follow-up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C5EC88-567C-40C9-BD83-73D699D5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86025"/>
            <a:ext cx="9525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FFF4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70E89F-4456-45EA-B10F-625B6C53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52675"/>
            <a:ext cx="209550" cy="228600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FFF4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E51276-AAF5-4FED-A215-954CF8B6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622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Protected record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5E573C-FFB8-49EC-9186-57ACEF7F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43225"/>
            <a:ext cx="9525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FFF4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F51DBA-61B6-44B9-B519-7D6E6B62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09875"/>
            <a:ext cx="209550" cy="228600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FFF4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231260-469D-47E5-B456-F7C6E7B9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194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Ownership proof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1F139B-DFD5-408C-9EA5-59976C01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00425"/>
            <a:ext cx="9525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FFF4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4CC6EC-4439-43B3-BE7A-76C4F5B9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67075"/>
            <a:ext cx="209550" cy="228600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FFF4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D9C168-F203-4141-A8CA-2CB601CF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766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Controlled access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AB2EBE-6FE7-4815-832B-E419142E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57625"/>
            <a:ext cx="9525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FFF4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B903E4-27FD-4E07-AEC0-A8150E70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724275"/>
            <a:ext cx="209550" cy="228600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FFF4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574B05-9ACE-4610-9AFC-B2D30C8F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338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Mentor validation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0BDECB-4457-4F3C-A608-23D6BE1F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14825"/>
            <a:ext cx="9525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FFF4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F2D114-3D6B-4494-B6E1-98708EC9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181475"/>
            <a:ext cx="209550" cy="228600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FFF4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F9A0E0-C2D4-4C18-861B-2ABF84DF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1910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Milestone readiness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ADFDDF-EA86-453B-ADE8-8006BD8D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24100"/>
            <a:ext cx="419100" cy="5143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75A13D-F20C-4BF0-8237-BD735CD4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3336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6F3EA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9E1015-AC8A-43AE-AC49-C9118A8C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95550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7171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1EBF1B-1D38-4D02-A0DC-1738FCA5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90800"/>
            <a:ext cx="219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7171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6A9D3E-36F6-48CE-A4E0-9CD0A69F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86050"/>
            <a:ext cx="419100" cy="5143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A3DAA9-D814-436D-92D5-63138AD3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6955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6F3EA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AEFBD5-FAAE-4BF0-8EE9-17CAEF67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57500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7171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1512DD0-199A-42AE-B1DC-F420CB15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952750"/>
            <a:ext cx="219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7171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873AF59-61E8-4C4C-9E89-4404A21A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105150"/>
            <a:ext cx="419100" cy="5143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171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9A8B06D-12FF-449A-AFAF-002A818E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1146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6F3EA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92E9ED6-230F-4DCE-9C4B-1EFCD4FA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76600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7171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A318F96-077B-434F-8AAB-067BD036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71850"/>
            <a:ext cx="219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7171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847997A-8D42-4DEE-8023-C989E8A2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57500"/>
            <a:ext cx="876300" cy="1047750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C675F"/>
            </a:solidFill>
            <a:prstDash val="dot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03E1DAF-8188-4B12-8785-396D649D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562350"/>
            <a:ext cx="723900" cy="838200"/>
          </a:xfrm>
          <a:prstGeom xmlns:a="http://schemas.openxmlformats.org/drawingml/2006/main" prst="homePlate">
            <a:avLst/>
          </a:prstGeom>
          <a:solidFill xmlns:a="http://schemas.openxmlformats.org/drawingml/2006/main">
            <a:srgbClr val="DFFF4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28672D7-A3EE-47FF-87CA-46085B7F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086225"/>
            <a:ext cx="9525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38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CB1531F-AA55-49C5-BF44-E4A5078F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952875"/>
            <a:ext cx="209550" cy="228600"/>
          </a:xfrm>
          <a:prstGeom xmlns:a="http://schemas.openxmlformats.org/drawingml/2006/main" prst="lineInv">
            <a:avLst/>
          </a:prstGeom>
          <a:noFill xmlns:a="http://schemas.openxmlformats.org/drawingml/2006/main"/>
          <a:ln xmlns:a="http://schemas.openxmlformats.org/drawingml/2006/main" w="33338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D95A64D-6FA8-42B5-9B40-76CD811D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657850"/>
            <a:ext cx="1047750" cy="304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F694522-1D8B-410E-9520-7FE65373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6864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10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1110F"/>
                </a:solidFill>
                <a:latin typeface="Aptos"/>
                <a:ea typeface="Aptos"/>
                <a:cs typeface="Aptos"/>
              </a:rPr>
              <a:t>Proof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93BCB15-3A6A-49AC-93C9-5DFB9EA0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657850"/>
            <a:ext cx="1123950" cy="304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FC95963-D706-4A50-AB03-0945B887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686425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10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1110F"/>
                </a:solidFill>
                <a:latin typeface="Aptos"/>
                <a:ea typeface="Aptos"/>
                <a:cs typeface="Aptos"/>
              </a:rPr>
              <a:t>Access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FDE1EEA-0F8A-4175-ADFA-D54CB07C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657850"/>
            <a:ext cx="1104900" cy="304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CF85273-02E5-4D82-9265-A612E825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686425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10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1110F"/>
                </a:solidFill>
                <a:latin typeface="Aptos"/>
                <a:ea typeface="Aptos"/>
                <a:cs typeface="Aptos"/>
              </a:rPr>
              <a:t>Signal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92F3123-6129-4EDF-98DE-183FC387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57850"/>
            <a:ext cx="1257300" cy="304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CFF99"/>
          </a:solidFill>
          <a:ln xmlns:a="http://schemas.openxmlformats.org/drawingml/2006/main" w="9525">
            <a:solidFill>
              <a:srgbClr val="17171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25C46EF-BEB8-445C-849D-DC713D00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686425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10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1110F"/>
                </a:solidFill>
                <a:latin typeface="Aptos"/>
                <a:ea typeface="Aptos"/>
                <a:cs typeface="Aptos"/>
              </a:rPr>
              <a:t>Funding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F5414D8-46D9-4CC5-9520-C920AF0E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619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C675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6C675F"/>
                </a:solidFill>
                <a:latin typeface="Aptos"/>
                <a:ea typeface="Aptos"/>
                <a:cs typeface="Aptos"/>
              </a:rPr>
              <a:t>From post-hackathon drop-off to curated continuation.</a:t>
            </a:r>
          </a:p>
        </p:txBody>
      </p:sp>
    </p:spTree>
    <p:extLst>
      <p:ext uri="{BB962C8B-B14F-4D97-AF65-F5344CB8AC3E}">
        <p14:creationId xmlns:p14="http://schemas.microsoft.com/office/powerpoint/2010/main" val="13847956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2026-05-27T09:27:24.4640000Z</dcterms:created>
  <dcterms:modified xsi:type="dcterms:W3CDTF">2026-05-27T09:27:24.4640000Z</dcterms:modified>
</coreProperties>
</file>